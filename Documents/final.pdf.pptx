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sz="half"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quarter"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20" y="110489"/>
            <a:ext cx="13167361"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731520" y="1920239"/>
            <a:ext cx="13167361" cy="630936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2.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4.png"/><Relationship Id="rId4" Type="http://schemas.openxmlformats.org/officeDocument/2006/relationships/image" Target="../media/image1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jpeg"/><Relationship Id="rId4" Type="http://schemas.openxmlformats.org/officeDocument/2006/relationships/image" Target="../media/image1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Freeform 2"/>
          <p:cNvSpPr/>
          <p:nvPr/>
        </p:nvSpPr>
        <p:spPr>
          <a:xfrm>
            <a:off x="653376" y="508129"/>
            <a:ext cx="1685289" cy="1427989"/>
          </a:xfrm>
          <a:prstGeom prst="rect">
            <a:avLst/>
          </a:prstGeom>
          <a:blipFill>
            <a:blip r:embed="rId2"/>
            <a:stretch>
              <a:fillRect/>
            </a:stretch>
          </a:blipFill>
          <a:ln w="12700">
            <a:miter lim="400000"/>
          </a:ln>
        </p:spPr>
        <p:txBody>
          <a:bodyPr lIns="45719" rIns="45719"/>
          <a:lstStyle/>
          <a:p>
            <a:pPr/>
          </a:p>
        </p:txBody>
      </p:sp>
      <p:sp>
        <p:nvSpPr>
          <p:cNvPr id="95" name="Freeform 3"/>
          <p:cNvSpPr/>
          <p:nvPr/>
        </p:nvSpPr>
        <p:spPr>
          <a:xfrm>
            <a:off x="12660248" y="508253"/>
            <a:ext cx="1314451" cy="1368935"/>
          </a:xfrm>
          <a:prstGeom prst="rect">
            <a:avLst/>
          </a:prstGeom>
          <a:blipFill>
            <a:blip r:embed="rId3"/>
            <a:stretch>
              <a:fillRect/>
            </a:stretch>
          </a:blipFill>
          <a:ln w="12700">
            <a:miter lim="400000"/>
          </a:ln>
        </p:spPr>
        <p:txBody>
          <a:bodyPr lIns="45719" rIns="45719"/>
          <a:lstStyle/>
          <a:p>
            <a:pPr/>
          </a:p>
        </p:txBody>
      </p:sp>
      <p:sp>
        <p:nvSpPr>
          <p:cNvPr id="96" name="Freeform 4"/>
          <p:cNvSpPr/>
          <p:nvPr/>
        </p:nvSpPr>
        <p:spPr>
          <a:xfrm>
            <a:off x="1680847" y="6636895"/>
            <a:ext cx="707137" cy="301753"/>
          </a:xfrm>
          <a:prstGeom prst="rect">
            <a:avLst/>
          </a:prstGeom>
          <a:blipFill>
            <a:blip r:embed="rId4"/>
            <a:stretch>
              <a:fillRect/>
            </a:stretch>
          </a:blipFill>
          <a:ln w="12700">
            <a:miter lim="400000"/>
          </a:ln>
        </p:spPr>
        <p:txBody>
          <a:bodyPr lIns="45719" rIns="45719"/>
          <a:lstStyle/>
          <a:p>
            <a:pPr/>
          </a:p>
        </p:txBody>
      </p:sp>
      <p:sp>
        <p:nvSpPr>
          <p:cNvPr id="97" name="Freeform 5"/>
          <p:cNvSpPr/>
          <p:nvPr/>
        </p:nvSpPr>
        <p:spPr>
          <a:xfrm>
            <a:off x="3692528" y="4226814"/>
            <a:ext cx="2225041" cy="24385"/>
          </a:xfrm>
          <a:prstGeom prst="rect">
            <a:avLst/>
          </a:prstGeom>
          <a:blipFill>
            <a:blip r:embed="rId5"/>
            <a:stretch>
              <a:fillRect/>
            </a:stretch>
          </a:blipFill>
          <a:ln w="12700">
            <a:miter lim="400000"/>
          </a:ln>
        </p:spPr>
        <p:txBody>
          <a:bodyPr lIns="45719" rIns="45719"/>
          <a:lstStyle/>
          <a:p>
            <a:pPr/>
          </a:p>
        </p:txBody>
      </p:sp>
      <p:sp>
        <p:nvSpPr>
          <p:cNvPr id="98" name="Freeform 6"/>
          <p:cNvSpPr/>
          <p:nvPr/>
        </p:nvSpPr>
        <p:spPr>
          <a:xfrm>
            <a:off x="5593841" y="6573393"/>
            <a:ext cx="2440430" cy="422654"/>
          </a:xfrm>
          <a:prstGeom prst="rect">
            <a:avLst/>
          </a:prstGeom>
          <a:blipFill>
            <a:blip r:embed="rId6"/>
            <a:stretch>
              <a:fillRect/>
            </a:stretch>
          </a:blipFill>
          <a:ln w="12700">
            <a:miter lim="400000"/>
          </a:ln>
        </p:spPr>
        <p:txBody>
          <a:bodyPr lIns="45719" rIns="45719"/>
          <a:lstStyle/>
          <a:p>
            <a:pPr/>
          </a:p>
        </p:txBody>
      </p:sp>
      <p:sp>
        <p:nvSpPr>
          <p:cNvPr id="99" name="Freeform 7"/>
          <p:cNvSpPr/>
          <p:nvPr/>
        </p:nvSpPr>
        <p:spPr>
          <a:xfrm>
            <a:off x="9660511" y="4226814"/>
            <a:ext cx="510541" cy="24385"/>
          </a:xfrm>
          <a:prstGeom prst="rect">
            <a:avLst/>
          </a:prstGeom>
          <a:blipFill>
            <a:blip r:embed="rId7"/>
            <a:stretch>
              <a:fillRect/>
            </a:stretch>
          </a:blipFill>
          <a:ln w="12700">
            <a:miter lim="400000"/>
          </a:ln>
        </p:spPr>
        <p:txBody>
          <a:bodyPr lIns="45719" rIns="45719"/>
          <a:lstStyle/>
          <a:p>
            <a:pPr/>
          </a:p>
        </p:txBody>
      </p:sp>
      <p:sp>
        <p:nvSpPr>
          <p:cNvPr id="100" name="Freeform 8"/>
          <p:cNvSpPr/>
          <p:nvPr/>
        </p:nvSpPr>
        <p:spPr>
          <a:xfrm>
            <a:off x="10374886" y="6586346"/>
            <a:ext cx="2385061" cy="281941"/>
          </a:xfrm>
          <a:prstGeom prst="rect">
            <a:avLst/>
          </a:prstGeom>
          <a:blipFill>
            <a:blip r:embed="rId8"/>
            <a:stretch>
              <a:fillRect/>
            </a:stretch>
          </a:blipFill>
          <a:ln w="12700">
            <a:miter lim="400000"/>
          </a:ln>
        </p:spPr>
        <p:txBody>
          <a:bodyPr lIns="45719" rIns="45719"/>
          <a:lstStyle/>
          <a:p>
            <a:pPr/>
          </a:p>
        </p:txBody>
      </p:sp>
      <p:sp>
        <p:nvSpPr>
          <p:cNvPr id="101" name="TextBox 9"/>
          <p:cNvSpPr txBox="1"/>
          <p:nvPr/>
        </p:nvSpPr>
        <p:spPr>
          <a:xfrm>
            <a:off x="6296910" y="3304194"/>
            <a:ext cx="2075233" cy="4012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0B5394"/>
                </a:solidFill>
                <a:latin typeface="Times New Roman"/>
                <a:ea typeface="Times New Roman"/>
                <a:cs typeface="Times New Roman"/>
                <a:sym typeface="Times New Roman"/>
              </a:defRPr>
            </a:lvl1pPr>
          </a:lstStyle>
          <a:p>
            <a:pPr/>
            <a:r>
              <a:t>Team Associates</a:t>
            </a:r>
          </a:p>
        </p:txBody>
      </p:sp>
      <p:sp>
        <p:nvSpPr>
          <p:cNvPr id="102" name="TextBox 10"/>
          <p:cNvSpPr txBox="1"/>
          <p:nvPr/>
        </p:nvSpPr>
        <p:spPr>
          <a:xfrm>
            <a:off x="3114169" y="470191"/>
            <a:ext cx="8650036" cy="350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800"/>
              </a:lnSpc>
              <a:defRPr sz="2400">
                <a:latin typeface="Times New Roman"/>
                <a:ea typeface="Times New Roman"/>
                <a:cs typeface="Times New Roman"/>
                <a:sym typeface="Times New Roman"/>
              </a:defRPr>
            </a:pPr>
            <a:r>
              <a:t>Bapuji Institute of Engineering and Technology, Davanagere-577004</a:t>
            </a:r>
            <a:r>
              <a:rPr>
                <a:solidFill>
                  <a:srgbClr val="44546A"/>
                </a:solidFill>
              </a:rPr>
              <a:t> </a:t>
            </a:r>
          </a:p>
        </p:txBody>
      </p:sp>
      <p:sp>
        <p:nvSpPr>
          <p:cNvPr id="103" name="TextBox 11"/>
          <p:cNvSpPr txBox="1"/>
          <p:nvPr/>
        </p:nvSpPr>
        <p:spPr>
          <a:xfrm>
            <a:off x="4193161" y="893446"/>
            <a:ext cx="6375237" cy="8194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ts val="2800"/>
              </a:lnSpc>
              <a:defRPr sz="2400">
                <a:latin typeface="Times New Roman"/>
                <a:ea typeface="Times New Roman"/>
                <a:cs typeface="Times New Roman"/>
                <a:sym typeface="Times New Roman"/>
              </a:defRPr>
            </a:pPr>
            <a:r>
              <a:t>Department of Computer Science and Engineering,</a:t>
            </a:r>
          </a:p>
          <a:p>
            <a:pPr algn="ctr">
              <a:lnSpc>
                <a:spcPts val="3700"/>
              </a:lnSpc>
              <a:defRPr sz="3200">
                <a:solidFill>
                  <a:srgbClr val="1C4587"/>
                </a:solidFill>
                <a:latin typeface="Times New Roman"/>
                <a:ea typeface="Times New Roman"/>
                <a:cs typeface="Times New Roman"/>
                <a:sym typeface="Times New Roman"/>
              </a:defRPr>
            </a:pPr>
            <a:r>
              <a:t>Presentation on</a:t>
            </a:r>
          </a:p>
        </p:txBody>
      </p:sp>
      <p:sp>
        <p:nvSpPr>
          <p:cNvPr id="104" name="TextBox 12"/>
          <p:cNvSpPr txBox="1"/>
          <p:nvPr/>
        </p:nvSpPr>
        <p:spPr>
          <a:xfrm>
            <a:off x="6367929" y="1880224"/>
            <a:ext cx="58294" cy="4761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200"/>
              </a:lnSpc>
              <a:defRPr>
                <a:latin typeface="Times New Roman"/>
                <a:ea typeface="Times New Roman"/>
                <a:cs typeface="Times New Roman"/>
                <a:sym typeface="Times New Roman"/>
              </a:defRPr>
            </a:lvl1pPr>
          </a:lstStyle>
          <a:p>
            <a:pPr/>
            <a:r>
              <a:t> </a:t>
            </a:r>
          </a:p>
        </p:txBody>
      </p:sp>
      <p:sp>
        <p:nvSpPr>
          <p:cNvPr id="105" name="TextBox 13"/>
          <p:cNvSpPr txBox="1"/>
          <p:nvPr/>
        </p:nvSpPr>
        <p:spPr>
          <a:xfrm>
            <a:off x="5816350" y="1888637"/>
            <a:ext cx="3128859" cy="3034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a:latin typeface="Times New Roman"/>
                <a:ea typeface="Times New Roman"/>
                <a:cs typeface="Times New Roman"/>
                <a:sym typeface="Times New Roman"/>
              </a:defRPr>
            </a:lvl1pPr>
          </a:lstStyle>
          <a:p>
            <a:pPr/>
            <a:r>
              <a:t>Major Project Phase-II (BCS786)</a:t>
            </a:r>
          </a:p>
        </p:txBody>
      </p:sp>
      <p:sp>
        <p:nvSpPr>
          <p:cNvPr id="106" name="TextBox 14"/>
          <p:cNvSpPr txBox="1"/>
          <p:nvPr/>
        </p:nvSpPr>
        <p:spPr>
          <a:xfrm>
            <a:off x="3052828" y="2523744"/>
            <a:ext cx="8763535" cy="7101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2800"/>
              </a:lnSpc>
              <a:defRPr b="1" sz="2400">
                <a:latin typeface="Calibri (MS) Bold"/>
                <a:ea typeface="Calibri (MS) Bold"/>
                <a:cs typeface="Calibri (MS) Bold"/>
                <a:sym typeface="Calibri (MS) Bold"/>
              </a:defRPr>
            </a:lvl1pPr>
          </a:lstStyle>
          <a:p>
            <a:pPr/>
            <a:r>
              <a:t>Metaheuristic Deep Learning Model for Leukemia Classification and Grading</a:t>
            </a:r>
          </a:p>
        </p:txBody>
      </p:sp>
      <p:sp>
        <p:nvSpPr>
          <p:cNvPr id="107" name="TextBox 16"/>
          <p:cNvSpPr txBox="1"/>
          <p:nvPr/>
        </p:nvSpPr>
        <p:spPr>
          <a:xfrm>
            <a:off x="3692909" y="3945387"/>
            <a:ext cx="2267589" cy="2987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b="1" sz="2000">
                <a:latin typeface="Times New Roman"/>
                <a:ea typeface="Times New Roman"/>
                <a:cs typeface="Times New Roman"/>
                <a:sym typeface="Times New Roman"/>
              </a:defRPr>
            </a:lvl1pPr>
          </a:lstStyle>
          <a:p>
            <a:pPr/>
            <a:r>
              <a:t>Name of the Student</a:t>
            </a:r>
          </a:p>
        </p:txBody>
      </p:sp>
      <p:sp>
        <p:nvSpPr>
          <p:cNvPr id="108" name="TextBox 17"/>
          <p:cNvSpPr txBox="1"/>
          <p:nvPr/>
        </p:nvSpPr>
        <p:spPr>
          <a:xfrm>
            <a:off x="4396997" y="4255999"/>
            <a:ext cx="64981" cy="2987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2000">
                <a:latin typeface="Times New Roman"/>
                <a:ea typeface="Times New Roman"/>
                <a:cs typeface="Times New Roman"/>
                <a:sym typeface="Times New Roman"/>
              </a:defRPr>
            </a:lvl1pPr>
          </a:lstStyle>
          <a:p>
            <a:pPr/>
            <a:r>
              <a:t> </a:t>
            </a:r>
          </a:p>
        </p:txBody>
      </p:sp>
      <p:sp>
        <p:nvSpPr>
          <p:cNvPr id="109" name="TextBox 18"/>
          <p:cNvSpPr txBox="1"/>
          <p:nvPr/>
        </p:nvSpPr>
        <p:spPr>
          <a:xfrm>
            <a:off x="9661273" y="3907287"/>
            <a:ext cx="519714" cy="3394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b="1" spc="2" sz="2000">
                <a:latin typeface="Times New Roman"/>
                <a:ea typeface="Times New Roman"/>
                <a:cs typeface="Times New Roman"/>
                <a:sym typeface="Times New Roman"/>
              </a:defRPr>
            </a:lvl1pPr>
          </a:lstStyle>
          <a:p>
            <a:pPr/>
            <a:r>
              <a:t>USN</a:t>
            </a:r>
          </a:p>
        </p:txBody>
      </p:sp>
      <p:sp>
        <p:nvSpPr>
          <p:cNvPr id="110" name="TextBox 19"/>
          <p:cNvSpPr txBox="1"/>
          <p:nvPr/>
        </p:nvSpPr>
        <p:spPr>
          <a:xfrm>
            <a:off x="10375648" y="6517261"/>
            <a:ext cx="2498047" cy="33942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b="1" sz="2000">
                <a:latin typeface="Times New Roman"/>
                <a:ea typeface="Times New Roman"/>
                <a:cs typeface="Times New Roman"/>
                <a:sym typeface="Times New Roman"/>
              </a:defRPr>
            </a:lvl1pPr>
          </a:lstStyle>
          <a:p>
            <a:pPr/>
            <a:r>
              <a:t>Program Coordinator </a:t>
            </a:r>
          </a:p>
        </p:txBody>
      </p:sp>
      <p:sp>
        <p:nvSpPr>
          <p:cNvPr id="111" name="TextBox 20"/>
          <p:cNvSpPr txBox="1"/>
          <p:nvPr/>
        </p:nvSpPr>
        <p:spPr>
          <a:xfrm>
            <a:off x="3578609" y="4255999"/>
            <a:ext cx="1723178" cy="2987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2000">
                <a:latin typeface="Times New Roman"/>
                <a:ea typeface="Times New Roman"/>
                <a:cs typeface="Times New Roman"/>
                <a:sym typeface="Times New Roman"/>
              </a:defRPr>
            </a:lvl1pPr>
          </a:lstStyle>
          <a:p>
            <a:pPr/>
            <a:r>
              <a:t> Anmol Kundap</a:t>
            </a:r>
          </a:p>
        </p:txBody>
      </p:sp>
      <p:sp>
        <p:nvSpPr>
          <p:cNvPr id="112" name="TextBox 21"/>
          <p:cNvSpPr txBox="1"/>
          <p:nvPr/>
        </p:nvSpPr>
        <p:spPr>
          <a:xfrm>
            <a:off x="5029456" y="4561332"/>
            <a:ext cx="64904" cy="2987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2000">
                <a:latin typeface="Times New Roman"/>
                <a:ea typeface="Times New Roman"/>
                <a:cs typeface="Times New Roman"/>
                <a:sym typeface="Times New Roman"/>
              </a:defRPr>
            </a:lvl1pPr>
          </a:lstStyle>
          <a:p>
            <a:pPr/>
            <a:r>
              <a:t> </a:t>
            </a:r>
          </a:p>
        </p:txBody>
      </p:sp>
      <p:sp>
        <p:nvSpPr>
          <p:cNvPr id="113" name="TextBox 22"/>
          <p:cNvSpPr txBox="1"/>
          <p:nvPr/>
        </p:nvSpPr>
        <p:spPr>
          <a:xfrm>
            <a:off x="9065390" y="4217899"/>
            <a:ext cx="1525982" cy="12639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800"/>
              </a:lnSpc>
              <a:defRPr spc="2" sz="2000">
                <a:latin typeface="Times New Roman"/>
                <a:ea typeface="Times New Roman"/>
                <a:cs typeface="Times New Roman"/>
                <a:sym typeface="Times New Roman"/>
              </a:defRPr>
            </a:pPr>
            <a:r>
              <a:t>4BD22CS017</a:t>
            </a:r>
          </a:p>
          <a:p>
            <a:pPr>
              <a:lnSpc>
                <a:spcPts val="2400"/>
              </a:lnSpc>
              <a:defRPr spc="4" sz="2000">
                <a:latin typeface="Times New Roman"/>
                <a:ea typeface="Times New Roman"/>
                <a:cs typeface="Times New Roman"/>
                <a:sym typeface="Times New Roman"/>
              </a:defRPr>
            </a:pPr>
            <a:r>
              <a:t> 4BD22CS176  4BD22CS002  4BD22CS008</a:t>
            </a:r>
          </a:p>
        </p:txBody>
      </p:sp>
      <p:sp>
        <p:nvSpPr>
          <p:cNvPr id="114" name="TextBox 23"/>
          <p:cNvSpPr txBox="1"/>
          <p:nvPr/>
        </p:nvSpPr>
        <p:spPr>
          <a:xfrm>
            <a:off x="10310117" y="7126605"/>
            <a:ext cx="2506352" cy="3394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latin typeface="Times New Roman"/>
                <a:ea typeface="Times New Roman"/>
                <a:cs typeface="Times New Roman"/>
                <a:sym typeface="Times New Roman"/>
              </a:defRPr>
            </a:lvl1pPr>
          </a:lstStyle>
          <a:p>
            <a:pPr/>
            <a:r>
              <a:t> Head of the department</a:t>
            </a:r>
          </a:p>
        </p:txBody>
      </p:sp>
      <p:sp>
        <p:nvSpPr>
          <p:cNvPr id="115" name="TextBox 24"/>
          <p:cNvSpPr txBox="1"/>
          <p:nvPr/>
        </p:nvSpPr>
        <p:spPr>
          <a:xfrm>
            <a:off x="3578609" y="4561332"/>
            <a:ext cx="2160338" cy="9083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2000">
                <a:latin typeface="Times New Roman"/>
                <a:ea typeface="Times New Roman"/>
                <a:cs typeface="Times New Roman"/>
                <a:sym typeface="Times New Roman"/>
              </a:defRPr>
            </a:lvl1pPr>
          </a:lstStyle>
          <a:p>
            <a:pPr/>
            <a:r>
              <a:t> Tanushree M Pujar Adarsh A Inamdar Amogh K Baliga </a:t>
            </a:r>
          </a:p>
        </p:txBody>
      </p:sp>
      <p:sp>
        <p:nvSpPr>
          <p:cNvPr id="116" name="TextBox 25"/>
          <p:cNvSpPr txBox="1"/>
          <p:nvPr/>
        </p:nvSpPr>
        <p:spPr>
          <a:xfrm>
            <a:off x="5680833" y="6605406"/>
            <a:ext cx="1696737" cy="6162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ts val="2500"/>
              </a:lnSpc>
              <a:defRPr b="1" sz="2100">
                <a:latin typeface="Times New Roman"/>
                <a:ea typeface="Times New Roman"/>
                <a:cs typeface="Times New Roman"/>
                <a:sym typeface="Times New Roman"/>
              </a:defRPr>
            </a:pPr>
            <a:r>
              <a:t> </a:t>
            </a:r>
          </a:p>
          <a:p>
            <a:pPr algn="ctr">
              <a:lnSpc>
                <a:spcPts val="2400"/>
              </a:lnSpc>
              <a:defRPr sz="2000">
                <a:latin typeface="Times New Roman"/>
                <a:ea typeface="Times New Roman"/>
                <a:cs typeface="Times New Roman"/>
                <a:sym typeface="Times New Roman"/>
              </a:defRPr>
            </a:pPr>
            <a:r>
              <a:t>Prof. Vinayak P </a:t>
            </a:r>
          </a:p>
        </p:txBody>
      </p:sp>
      <p:sp>
        <p:nvSpPr>
          <p:cNvPr id="117" name="TextBox 26"/>
          <p:cNvSpPr txBox="1"/>
          <p:nvPr/>
        </p:nvSpPr>
        <p:spPr>
          <a:xfrm>
            <a:off x="5837806" y="7229303"/>
            <a:ext cx="1993192" cy="2987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400"/>
              </a:lnSpc>
              <a:defRPr sz="2000">
                <a:latin typeface="Times New Roman"/>
                <a:ea typeface="Times New Roman"/>
                <a:cs typeface="Times New Roman"/>
                <a:sym typeface="Times New Roman"/>
              </a:defRPr>
            </a:lvl1pPr>
          </a:lstStyle>
          <a:p>
            <a:pPr/>
            <a:r>
              <a:t>Assistant Professor</a:t>
            </a:r>
          </a:p>
        </p:txBody>
      </p:sp>
      <p:sp>
        <p:nvSpPr>
          <p:cNvPr id="118" name="TextBox 27"/>
          <p:cNvSpPr txBox="1"/>
          <p:nvPr/>
        </p:nvSpPr>
        <p:spPr>
          <a:xfrm>
            <a:off x="10403081" y="6822091"/>
            <a:ext cx="1776947" cy="3394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latin typeface="Times New Roman"/>
                <a:ea typeface="Times New Roman"/>
                <a:cs typeface="Times New Roman"/>
                <a:sym typeface="Times New Roman"/>
              </a:defRPr>
            </a:lvl1pPr>
          </a:lstStyle>
          <a:p>
            <a:pPr/>
            <a:r>
              <a:t>Dr.Nirmala CR</a:t>
            </a:r>
          </a:p>
        </p:txBody>
      </p:sp>
      <p:sp>
        <p:nvSpPr>
          <p:cNvPr id="119" name="TextBox 28"/>
          <p:cNvSpPr txBox="1"/>
          <p:nvPr/>
        </p:nvSpPr>
        <p:spPr>
          <a:xfrm>
            <a:off x="5657973" y="6567306"/>
            <a:ext cx="2427715" cy="3523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z="2100">
                <a:latin typeface="Times New Roman"/>
                <a:ea typeface="Times New Roman"/>
                <a:cs typeface="Times New Roman"/>
                <a:sym typeface="Times New Roman"/>
              </a:defRPr>
            </a:lvl1pPr>
          </a:lstStyle>
          <a:p>
            <a:pPr/>
            <a:r>
              <a:t>ProjectCoordinator </a:t>
            </a:r>
          </a:p>
        </p:txBody>
      </p:sp>
      <p:sp>
        <p:nvSpPr>
          <p:cNvPr id="120" name="TextBox 29"/>
          <p:cNvSpPr txBox="1"/>
          <p:nvPr/>
        </p:nvSpPr>
        <p:spPr>
          <a:xfrm>
            <a:off x="2571244" y="6917265"/>
            <a:ext cx="483633" cy="2647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500">
                <a:latin typeface="Times New Roman"/>
                <a:ea typeface="Times New Roman"/>
                <a:cs typeface="Times New Roman"/>
                <a:sym typeface="Times New Roman"/>
              </a:defRPr>
            </a:lvl1pPr>
          </a:lstStyle>
          <a:p>
            <a:pPr/>
            <a:r>
              <a:t> Ph.D</a:t>
            </a:r>
          </a:p>
        </p:txBody>
      </p:sp>
      <p:sp>
        <p:nvSpPr>
          <p:cNvPr id="121" name="TextBox 30"/>
          <p:cNvSpPr txBox="1"/>
          <p:nvPr/>
        </p:nvSpPr>
        <p:spPr>
          <a:xfrm>
            <a:off x="7343517" y="6943914"/>
            <a:ext cx="683705" cy="2647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500">
                <a:latin typeface="Times New Roman"/>
                <a:ea typeface="Times New Roman"/>
                <a:cs typeface="Times New Roman"/>
                <a:sym typeface="Times New Roman"/>
              </a:defRPr>
            </a:lvl1pPr>
          </a:lstStyle>
          <a:p>
            <a:pPr/>
            <a:r>
              <a:t>M Tech.</a:t>
            </a:r>
          </a:p>
        </p:txBody>
      </p:sp>
      <p:sp>
        <p:nvSpPr>
          <p:cNvPr id="122" name="TextBox 31"/>
          <p:cNvSpPr txBox="1"/>
          <p:nvPr/>
        </p:nvSpPr>
        <p:spPr>
          <a:xfrm>
            <a:off x="12209402" y="6879603"/>
            <a:ext cx="471584" cy="2647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pc="1" sz="1500">
                <a:latin typeface="Times New Roman"/>
                <a:ea typeface="Times New Roman"/>
                <a:cs typeface="Times New Roman"/>
                <a:sym typeface="Times New Roman"/>
              </a:defRPr>
            </a:lvl1pPr>
          </a:lstStyle>
          <a:p>
            <a:pPr/>
            <a:r>
              <a:t>Ph.D.</a:t>
            </a:r>
          </a:p>
        </p:txBody>
      </p:sp>
      <p:sp>
        <p:nvSpPr>
          <p:cNvPr id="123" name="TextBox 32"/>
          <p:cNvSpPr txBox="1"/>
          <p:nvPr/>
        </p:nvSpPr>
        <p:spPr>
          <a:xfrm>
            <a:off x="1680971" y="6577173"/>
            <a:ext cx="790453" cy="3523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b="1" sz="2100">
                <a:latin typeface="Times New Roman"/>
                <a:ea typeface="Times New Roman"/>
                <a:cs typeface="Times New Roman"/>
                <a:sym typeface="Times New Roman"/>
              </a:defRPr>
            </a:lvl1pPr>
          </a:lstStyle>
          <a:p>
            <a:pPr/>
            <a:r>
              <a:t>Guide </a:t>
            </a:r>
          </a:p>
        </p:txBody>
      </p:sp>
      <p:sp>
        <p:nvSpPr>
          <p:cNvPr id="124" name="TextBox 33"/>
          <p:cNvSpPr txBox="1"/>
          <p:nvPr/>
        </p:nvSpPr>
        <p:spPr>
          <a:xfrm>
            <a:off x="1025652" y="6901739"/>
            <a:ext cx="1575236" cy="3523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900"/>
              </a:lnSpc>
              <a:defRPr sz="2100">
                <a:latin typeface="Times New Roman"/>
                <a:ea typeface="Times New Roman"/>
                <a:cs typeface="Times New Roman"/>
                <a:sym typeface="Times New Roman"/>
              </a:defRPr>
            </a:lvl1pPr>
          </a:lstStyle>
          <a:p>
            <a:pPr/>
            <a:r>
              <a:t>Dr. PradeepN</a:t>
            </a:r>
          </a:p>
        </p:txBody>
      </p:sp>
      <p:sp>
        <p:nvSpPr>
          <p:cNvPr id="125" name="TextBox 34"/>
          <p:cNvSpPr txBox="1"/>
          <p:nvPr/>
        </p:nvSpPr>
        <p:spPr>
          <a:xfrm>
            <a:off x="1575816" y="7263945"/>
            <a:ext cx="937908" cy="27571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900">
                <a:latin typeface="Times New Roman"/>
                <a:ea typeface="Times New Roman"/>
                <a:cs typeface="Times New Roman"/>
                <a:sym typeface="Times New Roman"/>
              </a:defRPr>
            </a:lvl1pPr>
          </a:lstStyle>
          <a:p>
            <a:pPr/>
            <a:r>
              <a:t>Professor</a:t>
            </a:r>
          </a:p>
        </p:txBody>
      </p:sp>
      <p:sp>
        <p:nvSpPr>
          <p:cNvPr id="126" name="TextBox 35"/>
          <p:cNvSpPr txBox="1"/>
          <p:nvPr/>
        </p:nvSpPr>
        <p:spPr>
          <a:xfrm>
            <a:off x="2034539" y="7557058"/>
            <a:ext cx="69172" cy="3116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2100">
                <a:latin typeface="Times New Roman"/>
                <a:ea typeface="Times New Roman"/>
                <a:cs typeface="Times New Roman"/>
                <a:sym typeface="Times New Roman"/>
              </a:defRPr>
            </a:lvl1pPr>
          </a:lstStyle>
          <a:p>
            <a:pPr/>
            <a:r>
              <a:t>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Freeform 2"/>
          <p:cNvSpPr/>
          <p:nvPr/>
        </p:nvSpPr>
        <p:spPr>
          <a:xfrm>
            <a:off x="0" y="1155509"/>
            <a:ext cx="14630400" cy="12701"/>
          </a:xfrm>
          <a:prstGeom prst="rect">
            <a:avLst/>
          </a:prstGeom>
          <a:blipFill>
            <a:blip r:embed="rId2"/>
            <a:stretch>
              <a:fillRect/>
            </a:stretch>
          </a:blipFill>
          <a:ln w="12700">
            <a:miter lim="400000"/>
          </a:ln>
        </p:spPr>
        <p:txBody>
          <a:bodyPr lIns="45719" rIns="45719"/>
          <a:lstStyle/>
          <a:p>
            <a:pPr/>
          </a:p>
        </p:txBody>
      </p:sp>
      <p:sp>
        <p:nvSpPr>
          <p:cNvPr id="129" name="Freeform 3"/>
          <p:cNvSpPr/>
          <p:nvPr/>
        </p:nvSpPr>
        <p:spPr>
          <a:xfrm>
            <a:off x="4209669" y="4351390"/>
            <a:ext cx="6279385" cy="3481961"/>
          </a:xfrm>
          <a:prstGeom prst="rect">
            <a:avLst/>
          </a:prstGeom>
          <a:blipFill>
            <a:blip r:embed="rId3"/>
            <a:stretch>
              <a:fillRect/>
            </a:stretch>
          </a:blipFill>
          <a:ln w="12700">
            <a:miter lim="400000"/>
          </a:ln>
        </p:spPr>
        <p:txBody>
          <a:bodyPr lIns="45719" rIns="45719"/>
          <a:lstStyle/>
          <a:p>
            <a:pPr/>
          </a:p>
        </p:txBody>
      </p:sp>
      <p:sp>
        <p:nvSpPr>
          <p:cNvPr id="130" name="TextBox 4"/>
          <p:cNvSpPr txBox="1"/>
          <p:nvPr/>
        </p:nvSpPr>
        <p:spPr>
          <a:xfrm>
            <a:off x="613562" y="1662359"/>
            <a:ext cx="13737385" cy="21208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ts val="2800"/>
              </a:lnSpc>
              <a:defRPr spc="6" sz="2000">
                <a:latin typeface="Roboto"/>
                <a:ea typeface="Roboto"/>
                <a:cs typeface="Roboto"/>
                <a:sym typeface="Roboto"/>
              </a:defRPr>
            </a:lvl1pPr>
          </a:lstStyle>
          <a:p>
            <a:pPr/>
            <a:r>
              <a:t>Leukemia is a type of blood cancer that starts in the bone marrow, where new blood cells are made. Instead of making healthy cells, the body makes too many abnormal white blood cells that cannot fight infections. These bad cells push out the healthy ones, causing problems like tiredness (low red blood cells), frequent infections (weak white blood cells), and easy bleeding or bruising (low platelets). It can happen because of changes in cell DNA, sometimes linked to radiation, harmful chemicals, smoking, or past cancer treatments. Leukemia can affect anyone, but finding it early and starting treatment helps in better recovery.</a:t>
            </a:r>
          </a:p>
        </p:txBody>
      </p:sp>
      <p:sp>
        <p:nvSpPr>
          <p:cNvPr id="131" name="TextBox 5"/>
          <p:cNvSpPr txBox="1"/>
          <p:nvPr/>
        </p:nvSpPr>
        <p:spPr>
          <a:xfrm>
            <a:off x="6001511" y="238163"/>
            <a:ext cx="3333323" cy="672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Introduction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Freeform 2"/>
          <p:cNvSpPr/>
          <p:nvPr/>
        </p:nvSpPr>
        <p:spPr>
          <a:xfrm>
            <a:off x="0" y="1143317"/>
            <a:ext cx="14630400" cy="12701"/>
          </a:xfrm>
          <a:prstGeom prst="rect">
            <a:avLst/>
          </a:prstGeom>
          <a:blipFill>
            <a:blip r:embed="rId2"/>
            <a:stretch>
              <a:fillRect/>
            </a:stretch>
          </a:blipFill>
          <a:ln w="12700">
            <a:miter lim="400000"/>
          </a:ln>
        </p:spPr>
        <p:txBody>
          <a:bodyPr lIns="45719" rIns="45719"/>
          <a:lstStyle/>
          <a:p>
            <a:pPr/>
          </a:p>
        </p:txBody>
      </p:sp>
      <p:sp>
        <p:nvSpPr>
          <p:cNvPr id="134" name="Freeform 3"/>
          <p:cNvSpPr/>
          <p:nvPr/>
        </p:nvSpPr>
        <p:spPr>
          <a:xfrm>
            <a:off x="822350" y="4329045"/>
            <a:ext cx="12985747" cy="469898"/>
          </a:xfrm>
          <a:prstGeom prst="rect">
            <a:avLst/>
          </a:prstGeom>
          <a:blipFill>
            <a:blip r:embed="rId3"/>
            <a:stretch>
              <a:fillRect/>
            </a:stretch>
          </a:blipFill>
          <a:ln w="12700">
            <a:miter lim="400000"/>
          </a:ln>
        </p:spPr>
        <p:txBody>
          <a:bodyPr lIns="45719" rIns="45719"/>
          <a:lstStyle/>
          <a:p>
            <a:pPr/>
          </a:p>
        </p:txBody>
      </p:sp>
      <p:sp>
        <p:nvSpPr>
          <p:cNvPr id="135" name="Freeform 4"/>
          <p:cNvSpPr/>
          <p:nvPr/>
        </p:nvSpPr>
        <p:spPr>
          <a:xfrm>
            <a:off x="822350" y="4960877"/>
            <a:ext cx="12985747" cy="469898"/>
          </a:xfrm>
          <a:prstGeom prst="rect">
            <a:avLst/>
          </a:prstGeom>
          <a:blipFill>
            <a:blip r:embed="rId3"/>
            <a:stretch>
              <a:fillRect/>
            </a:stretch>
          </a:blipFill>
          <a:ln w="12700">
            <a:miter lim="400000"/>
          </a:ln>
        </p:spPr>
        <p:txBody>
          <a:bodyPr lIns="45719" rIns="45719"/>
          <a:lstStyle/>
          <a:p>
            <a:pPr/>
          </a:p>
        </p:txBody>
      </p:sp>
      <p:sp>
        <p:nvSpPr>
          <p:cNvPr id="136" name="Freeform 5"/>
          <p:cNvSpPr/>
          <p:nvPr/>
        </p:nvSpPr>
        <p:spPr>
          <a:xfrm>
            <a:off x="822350" y="5592698"/>
            <a:ext cx="12985747" cy="469898"/>
          </a:xfrm>
          <a:prstGeom prst="rect">
            <a:avLst/>
          </a:prstGeom>
          <a:blipFill>
            <a:blip r:embed="rId3"/>
            <a:stretch>
              <a:fillRect/>
            </a:stretch>
          </a:blipFill>
          <a:ln w="12700">
            <a:miter lim="400000"/>
          </a:ln>
        </p:spPr>
        <p:txBody>
          <a:bodyPr lIns="45719" rIns="45719"/>
          <a:lstStyle/>
          <a:p>
            <a:pPr/>
          </a:p>
        </p:txBody>
      </p:sp>
      <p:sp>
        <p:nvSpPr>
          <p:cNvPr id="137" name="Freeform 6"/>
          <p:cNvSpPr/>
          <p:nvPr/>
        </p:nvSpPr>
        <p:spPr>
          <a:xfrm>
            <a:off x="822350" y="6224654"/>
            <a:ext cx="12985747" cy="469898"/>
          </a:xfrm>
          <a:prstGeom prst="rect">
            <a:avLst/>
          </a:prstGeom>
          <a:blipFill>
            <a:blip r:embed="rId3"/>
            <a:stretch>
              <a:fillRect/>
            </a:stretch>
          </a:blipFill>
          <a:ln w="12700">
            <a:miter lim="400000"/>
          </a:ln>
        </p:spPr>
        <p:txBody>
          <a:bodyPr lIns="45719" rIns="45719"/>
          <a:lstStyle/>
          <a:p>
            <a:pPr/>
          </a:p>
        </p:txBody>
      </p:sp>
      <p:sp>
        <p:nvSpPr>
          <p:cNvPr id="138" name="Freeform 7"/>
          <p:cNvSpPr/>
          <p:nvPr/>
        </p:nvSpPr>
        <p:spPr>
          <a:xfrm>
            <a:off x="775716" y="4352544"/>
            <a:ext cx="589027" cy="480823"/>
          </a:xfrm>
          <a:prstGeom prst="rect">
            <a:avLst/>
          </a:prstGeom>
          <a:blipFill>
            <a:blip r:embed="rId4"/>
            <a:stretch>
              <a:fillRect/>
            </a:stretch>
          </a:blipFill>
          <a:ln w="12700">
            <a:miter lim="400000"/>
          </a:ln>
        </p:spPr>
        <p:txBody>
          <a:bodyPr lIns="45719" rIns="45719"/>
          <a:lstStyle/>
          <a:p>
            <a:pPr/>
          </a:p>
        </p:txBody>
      </p:sp>
      <p:sp>
        <p:nvSpPr>
          <p:cNvPr id="139" name="Freeform 8"/>
          <p:cNvSpPr/>
          <p:nvPr/>
        </p:nvSpPr>
        <p:spPr>
          <a:xfrm>
            <a:off x="775716" y="4985003"/>
            <a:ext cx="589027" cy="480823"/>
          </a:xfrm>
          <a:prstGeom prst="rect">
            <a:avLst/>
          </a:prstGeom>
          <a:blipFill>
            <a:blip r:embed="rId5"/>
            <a:stretch>
              <a:fillRect/>
            </a:stretch>
          </a:blipFill>
          <a:ln w="12700">
            <a:miter lim="400000"/>
          </a:ln>
        </p:spPr>
        <p:txBody>
          <a:bodyPr lIns="45719" rIns="45719"/>
          <a:lstStyle/>
          <a:p>
            <a:pPr/>
          </a:p>
        </p:txBody>
      </p:sp>
      <p:sp>
        <p:nvSpPr>
          <p:cNvPr id="140" name="Freeform 9"/>
          <p:cNvSpPr/>
          <p:nvPr/>
        </p:nvSpPr>
        <p:spPr>
          <a:xfrm>
            <a:off x="775716" y="5615940"/>
            <a:ext cx="589027" cy="480823"/>
          </a:xfrm>
          <a:prstGeom prst="rect">
            <a:avLst/>
          </a:prstGeom>
          <a:blipFill>
            <a:blip r:embed="rId4"/>
            <a:stretch>
              <a:fillRect/>
            </a:stretch>
          </a:blipFill>
          <a:ln w="12700">
            <a:miter lim="400000"/>
          </a:ln>
        </p:spPr>
        <p:txBody>
          <a:bodyPr lIns="45719" rIns="45719"/>
          <a:lstStyle/>
          <a:p>
            <a:pPr/>
          </a:p>
        </p:txBody>
      </p:sp>
      <p:sp>
        <p:nvSpPr>
          <p:cNvPr id="141" name="Freeform 10"/>
          <p:cNvSpPr/>
          <p:nvPr/>
        </p:nvSpPr>
        <p:spPr>
          <a:xfrm>
            <a:off x="775716" y="6248399"/>
            <a:ext cx="589027" cy="480824"/>
          </a:xfrm>
          <a:prstGeom prst="rect">
            <a:avLst/>
          </a:prstGeom>
          <a:blipFill>
            <a:blip r:embed="rId4"/>
            <a:stretch>
              <a:fillRect/>
            </a:stretch>
          </a:blipFill>
          <a:ln w="12700">
            <a:miter lim="400000"/>
          </a:ln>
        </p:spPr>
        <p:txBody>
          <a:bodyPr lIns="45719" rIns="45719"/>
          <a:lstStyle/>
          <a:p>
            <a:pPr/>
          </a:p>
        </p:txBody>
      </p:sp>
      <p:sp>
        <p:nvSpPr>
          <p:cNvPr id="142" name="TextBox 11"/>
          <p:cNvSpPr txBox="1"/>
          <p:nvPr/>
        </p:nvSpPr>
        <p:spPr>
          <a:xfrm>
            <a:off x="822350" y="1906037"/>
            <a:ext cx="13322618" cy="1421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400">
                <a:latin typeface="Roboto"/>
                <a:ea typeface="Roboto"/>
                <a:cs typeface="Roboto"/>
                <a:sym typeface="Roboto"/>
              </a:defRPr>
            </a:lvl1pPr>
          </a:lstStyle>
          <a:p>
            <a:pPr/>
            <a:r>
              <a:t>Current systems for leukemia diagnosis focus only on classification or grading, not both together. They also face issues like low accuracy, imbalanced data, and poor interpretability. A metaheuristic-based framework is needed to improve both classification and grading simultaneously, giving more accurate and reliable results for clinical use.</a:t>
            </a:r>
          </a:p>
        </p:txBody>
      </p:sp>
      <p:sp>
        <p:nvSpPr>
          <p:cNvPr id="143" name="TextBox 12"/>
          <p:cNvSpPr txBox="1"/>
          <p:nvPr/>
        </p:nvSpPr>
        <p:spPr>
          <a:xfrm>
            <a:off x="5269991" y="309666"/>
            <a:ext cx="5174645" cy="6727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Problem Statement</a:t>
            </a:r>
          </a:p>
        </p:txBody>
      </p:sp>
      <p:sp>
        <p:nvSpPr>
          <p:cNvPr id="144" name="TextBox 13"/>
          <p:cNvSpPr txBox="1"/>
          <p:nvPr/>
        </p:nvSpPr>
        <p:spPr>
          <a:xfrm>
            <a:off x="1227733" y="6280870"/>
            <a:ext cx="6246497" cy="3065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a:latin typeface="Roboto"/>
                <a:ea typeface="Roboto"/>
                <a:cs typeface="Roboto"/>
                <a:sym typeface="Roboto"/>
              </a:defRPr>
            </a:lvl1pPr>
          </a:lstStyle>
          <a:p>
            <a:pPr/>
            <a:r>
              <a:t> Datasets are often imbalanced, affecting model robustness.</a:t>
            </a:r>
          </a:p>
        </p:txBody>
      </p:sp>
      <p:sp>
        <p:nvSpPr>
          <p:cNvPr id="145" name="TextBox 14"/>
          <p:cNvSpPr txBox="1"/>
          <p:nvPr/>
        </p:nvSpPr>
        <p:spPr>
          <a:xfrm>
            <a:off x="1227733" y="4194514"/>
            <a:ext cx="5426223" cy="5097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500"/>
              </a:lnSpc>
              <a:defRPr>
                <a:latin typeface="Roboto"/>
                <a:ea typeface="Roboto"/>
                <a:cs typeface="Roboto"/>
                <a:sym typeface="Roboto"/>
              </a:defRPr>
            </a:lvl1pPr>
          </a:lstStyle>
          <a:p>
            <a:pPr/>
            <a:r>
              <a:t> Manual analysis is time-consuming and error-prone.</a:t>
            </a:r>
          </a:p>
        </p:txBody>
      </p:sp>
      <p:sp>
        <p:nvSpPr>
          <p:cNvPr id="146" name="TextBox 15"/>
          <p:cNvSpPr txBox="1"/>
          <p:nvPr/>
        </p:nvSpPr>
        <p:spPr>
          <a:xfrm>
            <a:off x="1227733" y="4826337"/>
            <a:ext cx="9086300" cy="509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500"/>
              </a:lnSpc>
              <a:defRPr>
                <a:latin typeface="Roboto"/>
                <a:ea typeface="Roboto"/>
                <a:cs typeface="Roboto"/>
                <a:sym typeface="Roboto"/>
              </a:defRPr>
            </a:lvl1pPr>
          </a:lstStyle>
          <a:p>
            <a:pPr/>
            <a:r>
              <a:t> Current AI models are not optimised for both classification and grading simultaneously.</a:t>
            </a:r>
          </a:p>
        </p:txBody>
      </p:sp>
      <p:sp>
        <p:nvSpPr>
          <p:cNvPr id="147" name="TextBox 16"/>
          <p:cNvSpPr txBox="1"/>
          <p:nvPr/>
        </p:nvSpPr>
        <p:spPr>
          <a:xfrm>
            <a:off x="1227733" y="5648373"/>
            <a:ext cx="7333203" cy="306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a:latin typeface="Roboto"/>
                <a:ea typeface="Roboto"/>
                <a:cs typeface="Roboto"/>
                <a:sym typeface="Roboto"/>
              </a:defRPr>
            </a:lvl1pPr>
          </a:lstStyle>
          <a:p>
            <a:pPr/>
            <a:r>
              <a:t> Limited usage of Metaheuristic Optimisation in Hyper-parameter tuning.</a:t>
            </a:r>
          </a:p>
        </p:txBody>
      </p:sp>
      <p:sp>
        <p:nvSpPr>
          <p:cNvPr id="148" name="TextBox 17"/>
          <p:cNvSpPr txBox="1"/>
          <p:nvPr/>
        </p:nvSpPr>
        <p:spPr>
          <a:xfrm>
            <a:off x="913789" y="3753260"/>
            <a:ext cx="5174645" cy="3428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b="1" sz="2000">
                <a:latin typeface="Roboto Bold"/>
                <a:ea typeface="Roboto Bold"/>
                <a:cs typeface="Roboto Bold"/>
                <a:sym typeface="Roboto Bold"/>
              </a:defRPr>
            </a:lvl1pPr>
          </a:lstStyle>
          <a:p>
            <a:pPr/>
            <a:r>
              <a:t>Existing methods face several challenges: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Freeform 2"/>
          <p:cNvSpPr/>
          <p:nvPr/>
        </p:nvSpPr>
        <p:spPr>
          <a:xfrm>
            <a:off x="0" y="1123248"/>
            <a:ext cx="14630400" cy="12701"/>
          </a:xfrm>
          <a:prstGeom prst="rect">
            <a:avLst/>
          </a:prstGeom>
          <a:blipFill>
            <a:blip r:embed="rId2"/>
            <a:stretch>
              <a:fillRect/>
            </a:stretch>
          </a:blipFill>
          <a:ln w="12700">
            <a:miter lim="400000"/>
          </a:ln>
        </p:spPr>
        <p:txBody>
          <a:bodyPr lIns="45719" rIns="45719"/>
          <a:lstStyle/>
          <a:p>
            <a:pPr/>
          </a:p>
        </p:txBody>
      </p:sp>
      <p:sp>
        <p:nvSpPr>
          <p:cNvPr id="151" name="Freeform 3"/>
          <p:cNvSpPr/>
          <p:nvPr/>
        </p:nvSpPr>
        <p:spPr>
          <a:xfrm>
            <a:off x="763571" y="1950186"/>
            <a:ext cx="13103230" cy="4655336"/>
          </a:xfrm>
          <a:prstGeom prst="rect">
            <a:avLst/>
          </a:prstGeom>
          <a:blipFill>
            <a:blip r:embed="rId3"/>
            <a:stretch>
              <a:fillRect/>
            </a:stretch>
          </a:blipFill>
          <a:ln w="12700">
            <a:miter lim="400000"/>
          </a:ln>
        </p:spPr>
        <p:txBody>
          <a:bodyPr lIns="45719" rIns="45719"/>
          <a:lstStyle/>
          <a:p>
            <a:pPr/>
          </a:p>
        </p:txBody>
      </p:sp>
      <p:sp>
        <p:nvSpPr>
          <p:cNvPr id="152" name="TextBox 4"/>
          <p:cNvSpPr txBox="1"/>
          <p:nvPr/>
        </p:nvSpPr>
        <p:spPr>
          <a:xfrm>
            <a:off x="6211823" y="308905"/>
            <a:ext cx="3244286" cy="672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Objectives</a:t>
            </a:r>
          </a:p>
        </p:txBody>
      </p:sp>
      <p:sp>
        <p:nvSpPr>
          <p:cNvPr id="153" name="TextBox 5"/>
          <p:cNvSpPr txBox="1"/>
          <p:nvPr/>
        </p:nvSpPr>
        <p:spPr>
          <a:xfrm>
            <a:off x="1115263" y="2366229"/>
            <a:ext cx="90860" cy="3383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Arial"/>
                <a:ea typeface="Arial"/>
                <a:cs typeface="Arial"/>
                <a:sym typeface="Arial"/>
              </a:defRPr>
            </a:lvl1pPr>
          </a:lstStyle>
          <a:p>
            <a:pPr/>
            <a:r>
              <a:t>•</a:t>
            </a:r>
          </a:p>
        </p:txBody>
      </p:sp>
      <p:sp>
        <p:nvSpPr>
          <p:cNvPr id="154" name="TextBox 6"/>
          <p:cNvSpPr txBox="1"/>
          <p:nvPr/>
        </p:nvSpPr>
        <p:spPr>
          <a:xfrm>
            <a:off x="1115263" y="3510753"/>
            <a:ext cx="90860" cy="3383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Arial"/>
                <a:ea typeface="Arial"/>
                <a:cs typeface="Arial"/>
                <a:sym typeface="Arial"/>
              </a:defRPr>
            </a:lvl1pPr>
          </a:lstStyle>
          <a:p>
            <a:pPr/>
            <a:r>
              <a:t>•</a:t>
            </a:r>
          </a:p>
        </p:txBody>
      </p:sp>
      <p:sp>
        <p:nvSpPr>
          <p:cNvPr id="155" name="TextBox 7"/>
          <p:cNvSpPr txBox="1"/>
          <p:nvPr/>
        </p:nvSpPr>
        <p:spPr>
          <a:xfrm>
            <a:off x="1115263" y="4685767"/>
            <a:ext cx="90860" cy="3383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Arial"/>
                <a:ea typeface="Arial"/>
                <a:cs typeface="Arial"/>
                <a:sym typeface="Arial"/>
              </a:defRPr>
            </a:lvl1pPr>
          </a:lstStyle>
          <a:p>
            <a:pPr/>
            <a:r>
              <a:t>•</a:t>
            </a:r>
          </a:p>
        </p:txBody>
      </p:sp>
      <p:sp>
        <p:nvSpPr>
          <p:cNvPr id="156" name="TextBox 8"/>
          <p:cNvSpPr txBox="1"/>
          <p:nvPr/>
        </p:nvSpPr>
        <p:spPr>
          <a:xfrm>
            <a:off x="1115263" y="5830291"/>
            <a:ext cx="90860" cy="3383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Arial"/>
                <a:ea typeface="Arial"/>
                <a:cs typeface="Arial"/>
                <a:sym typeface="Arial"/>
              </a:defRPr>
            </a:lvl1pPr>
          </a:lstStyle>
          <a:p>
            <a:pPr/>
            <a:r>
              <a:t>•</a:t>
            </a:r>
          </a:p>
        </p:txBody>
      </p:sp>
      <p:sp>
        <p:nvSpPr>
          <p:cNvPr id="157" name="TextBox 9"/>
          <p:cNvSpPr txBox="1"/>
          <p:nvPr/>
        </p:nvSpPr>
        <p:spPr>
          <a:xfrm>
            <a:off x="1458210" y="2358189"/>
            <a:ext cx="8671095" cy="3428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Roboto"/>
                <a:ea typeface="Roboto"/>
                <a:cs typeface="Roboto"/>
                <a:sym typeface="Roboto"/>
              </a:defRPr>
            </a:lvl1pPr>
          </a:lstStyle>
          <a:p>
            <a:pPr/>
            <a:r>
              <a:t>Design a unified system for automated Leukemia classification and grading.</a:t>
            </a:r>
          </a:p>
        </p:txBody>
      </p:sp>
      <p:sp>
        <p:nvSpPr>
          <p:cNvPr id="158" name="TextBox 10"/>
          <p:cNvSpPr txBox="1"/>
          <p:nvPr/>
        </p:nvSpPr>
        <p:spPr>
          <a:xfrm>
            <a:off x="1458211" y="4677717"/>
            <a:ext cx="8887339" cy="34289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Roboto"/>
                <a:ea typeface="Roboto"/>
                <a:cs typeface="Roboto"/>
                <a:sym typeface="Roboto"/>
              </a:defRPr>
            </a:lvl1pPr>
          </a:lstStyle>
          <a:p>
            <a:pPr/>
            <a:r>
              <a:t>Enhance accuracy, sensitivity, and reliability on imbalanced medical datasets.</a:t>
            </a:r>
          </a:p>
        </p:txBody>
      </p:sp>
      <p:sp>
        <p:nvSpPr>
          <p:cNvPr id="159" name="TextBox 11"/>
          <p:cNvSpPr txBox="1"/>
          <p:nvPr/>
        </p:nvSpPr>
        <p:spPr>
          <a:xfrm>
            <a:off x="1458210" y="3502714"/>
            <a:ext cx="10358744" cy="3428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Roboto"/>
                <a:ea typeface="Roboto"/>
                <a:cs typeface="Roboto"/>
                <a:sym typeface="Roboto"/>
              </a:defRPr>
            </a:lvl1pPr>
          </a:lstStyle>
          <a:p>
            <a:pPr/>
            <a:r>
              <a:t>Employ Metaheuristic algorithms for optimal feature selection and Hyper-parameter tuning.</a:t>
            </a:r>
          </a:p>
        </p:txBody>
      </p:sp>
      <p:sp>
        <p:nvSpPr>
          <p:cNvPr id="160" name="TextBox 12"/>
          <p:cNvSpPr txBox="1"/>
          <p:nvPr/>
        </p:nvSpPr>
        <p:spPr>
          <a:xfrm>
            <a:off x="1458210" y="5822241"/>
            <a:ext cx="11022542" cy="3428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2000">
                <a:solidFill>
                  <a:srgbClr val="272525"/>
                </a:solidFill>
                <a:latin typeface="Roboto"/>
                <a:ea typeface="Roboto"/>
                <a:cs typeface="Roboto"/>
                <a:sym typeface="Roboto"/>
              </a:defRPr>
            </a:lvl1pPr>
          </a:lstStyle>
          <a:p>
            <a:pPr/>
            <a:r>
              <a:t>Integrate classification and grading stages for streamlined analysis and faster decision support.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Freeform 2"/>
          <p:cNvSpPr/>
          <p:nvPr/>
        </p:nvSpPr>
        <p:spPr>
          <a:xfrm>
            <a:off x="0" y="949388"/>
            <a:ext cx="14630400" cy="12701"/>
          </a:xfrm>
          <a:prstGeom prst="rect">
            <a:avLst/>
          </a:prstGeom>
          <a:blipFill>
            <a:blip r:embed="rId2"/>
            <a:stretch>
              <a:fillRect/>
            </a:stretch>
          </a:blipFill>
          <a:ln w="12700">
            <a:miter lim="400000"/>
          </a:ln>
        </p:spPr>
        <p:txBody>
          <a:bodyPr lIns="45719" rIns="45719"/>
          <a:lstStyle/>
          <a:p>
            <a:pPr/>
          </a:p>
        </p:txBody>
      </p:sp>
      <p:sp>
        <p:nvSpPr>
          <p:cNvPr id="163" name="Freeform 3"/>
          <p:cNvSpPr/>
          <p:nvPr/>
        </p:nvSpPr>
        <p:spPr>
          <a:xfrm>
            <a:off x="183841" y="1330375"/>
            <a:ext cx="13866839" cy="6717232"/>
          </a:xfrm>
          <a:prstGeom prst="rect">
            <a:avLst/>
          </a:prstGeom>
          <a:blipFill>
            <a:blip r:embed="rId3"/>
            <a:stretch>
              <a:fillRect/>
            </a:stretch>
          </a:blipFill>
          <a:ln w="12700">
            <a:miter lim="400000"/>
          </a:ln>
        </p:spPr>
        <p:txBody>
          <a:bodyPr lIns="45719" rIns="45719"/>
          <a:lstStyle/>
          <a:p>
            <a:pPr/>
          </a:p>
        </p:txBody>
      </p:sp>
      <p:sp>
        <p:nvSpPr>
          <p:cNvPr id="164" name="Freeform 4"/>
          <p:cNvSpPr/>
          <p:nvPr/>
        </p:nvSpPr>
        <p:spPr>
          <a:xfrm>
            <a:off x="7607807" y="2214571"/>
            <a:ext cx="6379341" cy="5578728"/>
          </a:xfrm>
          <a:prstGeom prst="rect">
            <a:avLst/>
          </a:prstGeom>
          <a:blipFill>
            <a:blip r:embed="rId4"/>
            <a:stretch>
              <a:fillRect/>
            </a:stretch>
          </a:blipFill>
          <a:ln w="12700">
            <a:miter lim="400000"/>
          </a:ln>
        </p:spPr>
        <p:txBody>
          <a:bodyPr lIns="45719" rIns="45719"/>
          <a:lstStyle/>
          <a:p>
            <a:pPr/>
          </a:p>
        </p:txBody>
      </p:sp>
      <p:sp>
        <p:nvSpPr>
          <p:cNvPr id="165" name="TextBox 5"/>
          <p:cNvSpPr txBox="1"/>
          <p:nvPr/>
        </p:nvSpPr>
        <p:spPr>
          <a:xfrm>
            <a:off x="503530" y="1980344"/>
            <a:ext cx="174728" cy="405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FFFFFF"/>
                </a:solidFill>
                <a:latin typeface="Roboto"/>
                <a:ea typeface="Roboto"/>
                <a:cs typeface="Roboto"/>
                <a:sym typeface="Roboto"/>
              </a:defRPr>
            </a:lvl1pPr>
          </a:lstStyle>
          <a:p>
            <a:pPr/>
            <a:r>
              <a:t>1</a:t>
            </a:r>
          </a:p>
        </p:txBody>
      </p:sp>
      <p:sp>
        <p:nvSpPr>
          <p:cNvPr id="166" name="TextBox 6"/>
          <p:cNvSpPr txBox="1"/>
          <p:nvPr/>
        </p:nvSpPr>
        <p:spPr>
          <a:xfrm>
            <a:off x="501701" y="3534185"/>
            <a:ext cx="174728" cy="405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FFFFFF"/>
                </a:solidFill>
                <a:latin typeface="Roboto"/>
                <a:ea typeface="Roboto"/>
                <a:cs typeface="Roboto"/>
                <a:sym typeface="Roboto"/>
              </a:defRPr>
            </a:lvl1pPr>
          </a:lstStyle>
          <a:p>
            <a:pPr/>
            <a:r>
              <a:t>2</a:t>
            </a:r>
          </a:p>
        </p:txBody>
      </p:sp>
      <p:sp>
        <p:nvSpPr>
          <p:cNvPr id="167" name="TextBox 7"/>
          <p:cNvSpPr txBox="1"/>
          <p:nvPr/>
        </p:nvSpPr>
        <p:spPr>
          <a:xfrm>
            <a:off x="503530" y="5088025"/>
            <a:ext cx="174728" cy="405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FFFFFF"/>
                </a:solidFill>
                <a:latin typeface="Roboto"/>
                <a:ea typeface="Roboto"/>
                <a:cs typeface="Roboto"/>
                <a:sym typeface="Roboto"/>
              </a:defRPr>
            </a:lvl1pPr>
          </a:lstStyle>
          <a:p>
            <a:pPr/>
            <a:r>
              <a:t>3</a:t>
            </a:r>
          </a:p>
        </p:txBody>
      </p:sp>
      <p:sp>
        <p:nvSpPr>
          <p:cNvPr id="168" name="TextBox 8"/>
          <p:cNvSpPr txBox="1"/>
          <p:nvPr/>
        </p:nvSpPr>
        <p:spPr>
          <a:xfrm>
            <a:off x="503530" y="6641916"/>
            <a:ext cx="174728" cy="405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FFFFFF"/>
                </a:solidFill>
                <a:latin typeface="Roboto"/>
                <a:ea typeface="Roboto"/>
                <a:cs typeface="Roboto"/>
                <a:sym typeface="Roboto"/>
              </a:defRPr>
            </a:lvl1pPr>
          </a:lstStyle>
          <a:p>
            <a:pPr/>
            <a:r>
              <a:t>4</a:t>
            </a:r>
          </a:p>
        </p:txBody>
      </p:sp>
      <p:sp>
        <p:nvSpPr>
          <p:cNvPr id="169" name="TextBox 9"/>
          <p:cNvSpPr txBox="1"/>
          <p:nvPr/>
        </p:nvSpPr>
        <p:spPr>
          <a:xfrm>
            <a:off x="1611583" y="6906412"/>
            <a:ext cx="3824454" cy="3065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solidFill>
                  <a:srgbClr val="272525"/>
                </a:solidFill>
                <a:latin typeface="Roboto Bold"/>
                <a:ea typeface="Roboto Bold"/>
                <a:cs typeface="Roboto Bold"/>
                <a:sym typeface="Roboto Bold"/>
              </a:defRPr>
            </a:lvl1pPr>
          </a:lstStyle>
          <a:p>
            <a:pPr/>
            <a:r>
              <a:t>Chronic Myeloid Leukemia (CML)</a:t>
            </a:r>
          </a:p>
        </p:txBody>
      </p:sp>
      <p:sp>
        <p:nvSpPr>
          <p:cNvPr id="170" name="TextBox 10"/>
          <p:cNvSpPr txBox="1"/>
          <p:nvPr/>
        </p:nvSpPr>
        <p:spPr>
          <a:xfrm>
            <a:off x="1457107" y="5405736"/>
            <a:ext cx="4133406" cy="3065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solidFill>
                  <a:srgbClr val="272525"/>
                </a:solidFill>
                <a:latin typeface="Roboto Bold"/>
                <a:ea typeface="Roboto Bold"/>
                <a:cs typeface="Roboto Bold"/>
                <a:sym typeface="Roboto Bold"/>
              </a:defRPr>
            </a:lvl1pPr>
          </a:lstStyle>
          <a:p>
            <a:pPr/>
            <a:r>
              <a:t>Chronic Lymphocytic Leukemia (CLL)</a:t>
            </a:r>
          </a:p>
        </p:txBody>
      </p:sp>
      <p:sp>
        <p:nvSpPr>
          <p:cNvPr id="171" name="TextBox 11"/>
          <p:cNvSpPr txBox="1"/>
          <p:nvPr/>
        </p:nvSpPr>
        <p:spPr>
          <a:xfrm>
            <a:off x="1375734" y="3780963"/>
            <a:ext cx="3662193" cy="3065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solidFill>
                  <a:srgbClr val="272525"/>
                </a:solidFill>
                <a:latin typeface="Roboto Bold"/>
                <a:ea typeface="Roboto Bold"/>
                <a:cs typeface="Roboto Bold"/>
                <a:sym typeface="Roboto Bold"/>
              </a:defRPr>
            </a:lvl1pPr>
          </a:lstStyle>
          <a:p>
            <a:pPr/>
            <a:r>
              <a:t>Acute Myeloid Leukemia (AML)</a:t>
            </a:r>
          </a:p>
        </p:txBody>
      </p:sp>
      <p:sp>
        <p:nvSpPr>
          <p:cNvPr id="172" name="TextBox 12"/>
          <p:cNvSpPr txBox="1"/>
          <p:nvPr/>
        </p:nvSpPr>
        <p:spPr>
          <a:xfrm>
            <a:off x="1306414" y="2379480"/>
            <a:ext cx="4133406" cy="306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solidFill>
                  <a:srgbClr val="272525"/>
                </a:solidFill>
                <a:latin typeface="Roboto Bold"/>
                <a:ea typeface="Roboto Bold"/>
                <a:cs typeface="Roboto Bold"/>
                <a:sym typeface="Roboto Bold"/>
              </a:defRPr>
            </a:lvl1pPr>
          </a:lstStyle>
          <a:p>
            <a:pPr/>
            <a:r>
              <a:t>Acute Lymphoblastic Leukemia (ALL)</a:t>
            </a:r>
          </a:p>
        </p:txBody>
      </p:sp>
      <p:sp>
        <p:nvSpPr>
          <p:cNvPr id="173" name="TextBox 13"/>
          <p:cNvSpPr txBox="1"/>
          <p:nvPr/>
        </p:nvSpPr>
        <p:spPr>
          <a:xfrm>
            <a:off x="1087222" y="2717530"/>
            <a:ext cx="5298205" cy="2673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pc="2" sz="1500">
                <a:solidFill>
                  <a:srgbClr val="272525"/>
                </a:solidFill>
                <a:latin typeface="Roboto"/>
                <a:ea typeface="Roboto"/>
                <a:cs typeface="Roboto"/>
                <a:sym typeface="Roboto"/>
              </a:defRPr>
            </a:lvl1pPr>
          </a:lstStyle>
          <a:p>
            <a:pPr/>
            <a:r>
              <a:t>Fast-growing, affects lymphoid cells, common in children.</a:t>
            </a:r>
          </a:p>
        </p:txBody>
      </p:sp>
      <p:sp>
        <p:nvSpPr>
          <p:cNvPr id="174" name="TextBox 14"/>
          <p:cNvSpPr txBox="1"/>
          <p:nvPr/>
        </p:nvSpPr>
        <p:spPr>
          <a:xfrm>
            <a:off x="970482" y="5825213"/>
            <a:ext cx="5532179" cy="267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pc="1" sz="1500">
                <a:solidFill>
                  <a:srgbClr val="272525"/>
                </a:solidFill>
                <a:latin typeface="Roboto"/>
                <a:ea typeface="Roboto"/>
                <a:cs typeface="Roboto"/>
                <a:sym typeface="Roboto"/>
              </a:defRPr>
            </a:lvl1pPr>
          </a:lstStyle>
          <a:p>
            <a:pPr/>
            <a:r>
              <a:t>Slow-growing, affects lymphocytes, common in older adults.</a:t>
            </a:r>
          </a:p>
        </p:txBody>
      </p:sp>
      <p:sp>
        <p:nvSpPr>
          <p:cNvPr id="175" name="TextBox 15"/>
          <p:cNvSpPr txBox="1"/>
          <p:nvPr/>
        </p:nvSpPr>
        <p:spPr>
          <a:xfrm>
            <a:off x="934821" y="4271371"/>
            <a:ext cx="5597854" cy="267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pc="1" sz="1500">
                <a:solidFill>
                  <a:srgbClr val="272525"/>
                </a:solidFill>
                <a:latin typeface="Roboto"/>
                <a:ea typeface="Roboto"/>
                <a:cs typeface="Roboto"/>
                <a:sym typeface="Roboto"/>
              </a:defRPr>
            </a:lvl1pPr>
          </a:lstStyle>
          <a:p>
            <a:pPr/>
            <a:r>
              <a:t>Rapid, affects myeloid cells, seen in both children and adults.</a:t>
            </a:r>
          </a:p>
        </p:txBody>
      </p:sp>
      <p:sp>
        <p:nvSpPr>
          <p:cNvPr id="176" name="TextBox 16"/>
          <p:cNvSpPr txBox="1"/>
          <p:nvPr/>
        </p:nvSpPr>
        <p:spPr>
          <a:xfrm>
            <a:off x="5371843" y="121453"/>
            <a:ext cx="4680651" cy="672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Types of Leukemia</a:t>
            </a:r>
          </a:p>
        </p:txBody>
      </p:sp>
      <p:sp>
        <p:nvSpPr>
          <p:cNvPr id="177" name="TextBox 17"/>
          <p:cNvSpPr txBox="1"/>
          <p:nvPr/>
        </p:nvSpPr>
        <p:spPr>
          <a:xfrm>
            <a:off x="734567" y="1404241"/>
            <a:ext cx="8465801" cy="3065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latin typeface="Calibri (MS) Bold"/>
                <a:ea typeface="Calibri (MS) Bold"/>
                <a:cs typeface="Calibri (MS) Bold"/>
                <a:sym typeface="Calibri (MS) Bold"/>
              </a:defRPr>
            </a:lvl1pPr>
          </a:lstStyle>
          <a:p>
            <a:pPr/>
            <a:r>
              <a:t>Leukemia is classified by its speed of development and affected cell type.</a:t>
            </a:r>
          </a:p>
        </p:txBody>
      </p:sp>
      <p:sp>
        <p:nvSpPr>
          <p:cNvPr id="178" name="TextBox 18"/>
          <p:cNvSpPr txBox="1"/>
          <p:nvPr/>
        </p:nvSpPr>
        <p:spPr>
          <a:xfrm>
            <a:off x="1290570" y="7420898"/>
            <a:ext cx="4882412" cy="2339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400">
                <a:solidFill>
                  <a:srgbClr val="272525"/>
                </a:solidFill>
                <a:latin typeface="Roboto"/>
                <a:ea typeface="Roboto"/>
                <a:cs typeface="Roboto"/>
                <a:sym typeface="Roboto"/>
              </a:defRPr>
            </a:lvl1pPr>
          </a:lstStyle>
          <a:p>
            <a:pPr/>
            <a:r>
              <a:t>Slow progression, affects myeloid cells, may evolve to acute.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Freeform 2"/>
          <p:cNvSpPr/>
          <p:nvPr/>
        </p:nvSpPr>
        <p:spPr>
          <a:xfrm>
            <a:off x="0" y="949388"/>
            <a:ext cx="14630400" cy="12701"/>
          </a:xfrm>
          <a:prstGeom prst="rect">
            <a:avLst/>
          </a:prstGeom>
          <a:blipFill>
            <a:blip r:embed="rId2"/>
            <a:stretch>
              <a:fillRect/>
            </a:stretch>
          </a:blipFill>
          <a:ln w="12700">
            <a:miter lim="400000"/>
          </a:ln>
        </p:spPr>
        <p:txBody>
          <a:bodyPr lIns="45719" rIns="45719"/>
          <a:lstStyle/>
          <a:p>
            <a:pPr/>
          </a:p>
        </p:txBody>
      </p:sp>
      <p:sp>
        <p:nvSpPr>
          <p:cNvPr id="181" name="Freeform 3"/>
          <p:cNvSpPr/>
          <p:nvPr/>
        </p:nvSpPr>
        <p:spPr>
          <a:xfrm>
            <a:off x="468468" y="1330375"/>
            <a:ext cx="13582220" cy="524457"/>
          </a:xfrm>
          <a:prstGeom prst="rect">
            <a:avLst/>
          </a:prstGeom>
          <a:blipFill>
            <a:blip r:embed="rId3"/>
            <a:stretch>
              <a:fillRect/>
            </a:stretch>
          </a:blipFill>
          <a:ln w="12700">
            <a:miter lim="400000"/>
          </a:ln>
        </p:spPr>
        <p:txBody>
          <a:bodyPr lIns="45719" rIns="45719"/>
          <a:lstStyle/>
          <a:p>
            <a:pPr/>
          </a:p>
        </p:txBody>
      </p:sp>
      <p:sp>
        <p:nvSpPr>
          <p:cNvPr id="182" name="Freeform 4"/>
          <p:cNvSpPr/>
          <p:nvPr/>
        </p:nvSpPr>
        <p:spPr>
          <a:xfrm>
            <a:off x="3667762" y="2165347"/>
            <a:ext cx="6791069" cy="4683253"/>
          </a:xfrm>
          <a:prstGeom prst="rect">
            <a:avLst/>
          </a:prstGeom>
          <a:blipFill>
            <a:blip r:embed="rId4"/>
            <a:stretch>
              <a:fillRect/>
            </a:stretch>
          </a:blipFill>
          <a:ln w="12700">
            <a:miter lim="400000"/>
          </a:ln>
        </p:spPr>
        <p:txBody>
          <a:bodyPr lIns="45719" rIns="45719"/>
          <a:lstStyle/>
          <a:p>
            <a:pPr/>
          </a:p>
        </p:txBody>
      </p:sp>
      <p:sp>
        <p:nvSpPr>
          <p:cNvPr id="183" name="TextBox 5"/>
          <p:cNvSpPr txBox="1"/>
          <p:nvPr/>
        </p:nvSpPr>
        <p:spPr>
          <a:xfrm>
            <a:off x="5480046" y="121453"/>
            <a:ext cx="4350890" cy="672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Leukemia Grading</a:t>
            </a:r>
          </a:p>
        </p:txBody>
      </p:sp>
      <p:sp>
        <p:nvSpPr>
          <p:cNvPr id="184" name="TextBox 6"/>
          <p:cNvSpPr txBox="1"/>
          <p:nvPr/>
        </p:nvSpPr>
        <p:spPr>
          <a:xfrm>
            <a:off x="734567" y="1404241"/>
            <a:ext cx="8358176" cy="3065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latin typeface="Calibri (MS) Bold"/>
                <a:ea typeface="Calibri (MS) Bold"/>
                <a:cs typeface="Calibri (MS) Bold"/>
                <a:sym typeface="Calibri (MS) Bold"/>
              </a:defRPr>
            </a:lvl1pPr>
          </a:lstStyle>
          <a:p>
            <a:pPr/>
            <a:r>
              <a:t>Leukemia is classified first and then simultaneously graded into 3 category:</a:t>
            </a:r>
          </a:p>
        </p:txBody>
      </p:sp>
      <p:sp>
        <p:nvSpPr>
          <p:cNvPr id="185" name="TextBox 7"/>
          <p:cNvSpPr txBox="1"/>
          <p:nvPr/>
        </p:nvSpPr>
        <p:spPr>
          <a:xfrm>
            <a:off x="3985898" y="2335043"/>
            <a:ext cx="174728" cy="405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FFFFFF"/>
                </a:solidFill>
                <a:latin typeface="Roboto"/>
                <a:ea typeface="Roboto"/>
                <a:cs typeface="Roboto"/>
                <a:sym typeface="Roboto"/>
              </a:defRPr>
            </a:lvl1pPr>
          </a:lstStyle>
          <a:p>
            <a:pPr/>
            <a:r>
              <a:t>1</a:t>
            </a:r>
          </a:p>
        </p:txBody>
      </p:sp>
      <p:sp>
        <p:nvSpPr>
          <p:cNvPr id="186" name="TextBox 8"/>
          <p:cNvSpPr txBox="1"/>
          <p:nvPr/>
        </p:nvSpPr>
        <p:spPr>
          <a:xfrm>
            <a:off x="3985898" y="3889018"/>
            <a:ext cx="174728" cy="405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FFFFFF"/>
                </a:solidFill>
                <a:latin typeface="Roboto"/>
                <a:ea typeface="Roboto"/>
                <a:cs typeface="Roboto"/>
                <a:sym typeface="Roboto"/>
              </a:defRPr>
            </a:lvl1pPr>
          </a:lstStyle>
          <a:p>
            <a:pPr/>
            <a:r>
              <a:t>2</a:t>
            </a:r>
          </a:p>
        </p:txBody>
      </p:sp>
      <p:sp>
        <p:nvSpPr>
          <p:cNvPr id="187" name="TextBox 9"/>
          <p:cNvSpPr txBox="1"/>
          <p:nvPr/>
        </p:nvSpPr>
        <p:spPr>
          <a:xfrm>
            <a:off x="3988051" y="5442861"/>
            <a:ext cx="174728" cy="4053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300"/>
              </a:lnSpc>
              <a:defRPr sz="2400">
                <a:solidFill>
                  <a:srgbClr val="FFFFFF"/>
                </a:solidFill>
                <a:latin typeface="Roboto"/>
                <a:ea typeface="Roboto"/>
                <a:cs typeface="Roboto"/>
                <a:sym typeface="Roboto"/>
              </a:defRPr>
            </a:lvl1pPr>
          </a:lstStyle>
          <a:p>
            <a:pPr/>
            <a:r>
              <a:t>3</a:t>
            </a:r>
          </a:p>
        </p:txBody>
      </p:sp>
      <p:sp>
        <p:nvSpPr>
          <p:cNvPr id="188" name="TextBox 10"/>
          <p:cNvSpPr txBox="1"/>
          <p:nvPr/>
        </p:nvSpPr>
        <p:spPr>
          <a:xfrm>
            <a:off x="5624440" y="5864791"/>
            <a:ext cx="2877713" cy="306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solidFill>
                  <a:srgbClr val="272525"/>
                </a:solidFill>
                <a:latin typeface="Roboto Bold"/>
                <a:ea typeface="Roboto Bold"/>
                <a:cs typeface="Roboto Bold"/>
                <a:sym typeface="Roboto Bold"/>
              </a:defRPr>
            </a:lvl1pPr>
          </a:lstStyle>
          <a:p>
            <a:pPr/>
            <a:r>
              <a:t>Blast Crisis (20% or more)</a:t>
            </a:r>
          </a:p>
        </p:txBody>
      </p:sp>
      <p:sp>
        <p:nvSpPr>
          <p:cNvPr id="189" name="TextBox 11"/>
          <p:cNvSpPr txBox="1"/>
          <p:nvPr/>
        </p:nvSpPr>
        <p:spPr>
          <a:xfrm>
            <a:off x="5379271" y="2664965"/>
            <a:ext cx="3368051" cy="306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solidFill>
                  <a:srgbClr val="272525"/>
                </a:solidFill>
                <a:latin typeface="Roboto Bold"/>
                <a:ea typeface="Roboto Bold"/>
                <a:cs typeface="Roboto Bold"/>
                <a:sym typeface="Roboto Bold"/>
              </a:defRPr>
            </a:lvl1pPr>
          </a:lstStyle>
          <a:p>
            <a:pPr/>
            <a:r>
              <a:t>Chronic Phase (less than 10%)</a:t>
            </a:r>
          </a:p>
        </p:txBody>
      </p:sp>
      <p:sp>
        <p:nvSpPr>
          <p:cNvPr id="190" name="TextBox 12"/>
          <p:cNvSpPr txBox="1"/>
          <p:nvPr/>
        </p:nvSpPr>
        <p:spPr>
          <a:xfrm>
            <a:off x="5308334" y="4353686"/>
            <a:ext cx="3509925" cy="3065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b="1">
                <a:latin typeface="Roboto Bold"/>
                <a:ea typeface="Roboto Bold"/>
                <a:cs typeface="Roboto Bold"/>
                <a:sym typeface="Roboto Bold"/>
              </a:defRPr>
            </a:lvl1pPr>
          </a:lstStyle>
          <a:p>
            <a:pPr/>
            <a:r>
              <a:t>Accelerated Phase (10% to 19%)</a:t>
            </a:r>
          </a:p>
        </p:txBody>
      </p:sp>
      <p:sp>
        <p:nvSpPr>
          <p:cNvPr id="191" name="TextBox 13"/>
          <p:cNvSpPr txBox="1"/>
          <p:nvPr/>
        </p:nvSpPr>
        <p:spPr>
          <a:xfrm>
            <a:off x="4902451" y="3072240"/>
            <a:ext cx="4613178" cy="267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pc="1" sz="1500">
                <a:solidFill>
                  <a:srgbClr val="272525"/>
                </a:solidFill>
                <a:latin typeface="Roboto"/>
                <a:ea typeface="Roboto"/>
                <a:cs typeface="Roboto"/>
                <a:sym typeface="Roboto"/>
              </a:defRPr>
            </a:lvl1pPr>
          </a:lstStyle>
          <a:p>
            <a:pPr/>
            <a:r>
              <a:t>Mild or no symptoms; good response to treatment</a:t>
            </a:r>
          </a:p>
        </p:txBody>
      </p:sp>
      <p:sp>
        <p:nvSpPr>
          <p:cNvPr id="192" name="TextBox 14"/>
          <p:cNvSpPr txBox="1"/>
          <p:nvPr/>
        </p:nvSpPr>
        <p:spPr>
          <a:xfrm>
            <a:off x="4288278" y="4626207"/>
            <a:ext cx="5865383" cy="2673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pc="1" sz="1500">
                <a:solidFill>
                  <a:srgbClr val="272525"/>
                </a:solidFill>
                <a:latin typeface="Roboto"/>
                <a:ea typeface="Roboto"/>
                <a:cs typeface="Roboto"/>
                <a:sym typeface="Roboto"/>
              </a:defRPr>
            </a:lvl1pPr>
          </a:lstStyle>
          <a:p>
            <a:pPr/>
            <a:r>
              <a:t>Anemia, enlarged spleen, increasing WBCs, disease progressing</a:t>
            </a:r>
          </a:p>
        </p:txBody>
      </p:sp>
      <p:sp>
        <p:nvSpPr>
          <p:cNvPr id="193" name="TextBox 15"/>
          <p:cNvSpPr txBox="1"/>
          <p:nvPr/>
        </p:nvSpPr>
        <p:spPr>
          <a:xfrm>
            <a:off x="4279134" y="6180058"/>
            <a:ext cx="6027270" cy="2673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pc="1" sz="1500">
                <a:solidFill>
                  <a:srgbClr val="272525"/>
                </a:solidFill>
                <a:latin typeface="Roboto"/>
                <a:ea typeface="Roboto"/>
                <a:cs typeface="Roboto"/>
                <a:sym typeface="Roboto"/>
              </a:defRPr>
            </a:lvl1pPr>
          </a:lstStyle>
          <a:p>
            <a:pPr/>
            <a:r>
              <a:t>Resemblances acute Leukemia; severe symptoms; poor prognosis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Freeform 2"/>
          <p:cNvSpPr/>
          <p:nvPr/>
        </p:nvSpPr>
        <p:spPr>
          <a:xfrm>
            <a:off x="0" y="1070165"/>
            <a:ext cx="14630400" cy="12701"/>
          </a:xfrm>
          <a:prstGeom prst="rect">
            <a:avLst/>
          </a:prstGeom>
          <a:blipFill>
            <a:blip r:embed="rId2"/>
            <a:stretch>
              <a:fillRect/>
            </a:stretch>
          </a:blipFill>
          <a:ln w="12700">
            <a:miter lim="400000"/>
          </a:ln>
        </p:spPr>
        <p:txBody>
          <a:bodyPr lIns="45719" rIns="45719"/>
          <a:lstStyle/>
          <a:p>
            <a:pPr/>
          </a:p>
        </p:txBody>
      </p:sp>
      <p:sp>
        <p:nvSpPr>
          <p:cNvPr id="196" name="Freeform 3"/>
          <p:cNvSpPr/>
          <p:nvPr/>
        </p:nvSpPr>
        <p:spPr>
          <a:xfrm>
            <a:off x="2505836" y="1234334"/>
            <a:ext cx="9618727" cy="6665472"/>
          </a:xfrm>
          <a:prstGeom prst="rect">
            <a:avLst/>
          </a:prstGeom>
          <a:blipFill>
            <a:blip r:embed="rId3"/>
            <a:stretch>
              <a:fillRect/>
            </a:stretch>
          </a:blipFill>
          <a:ln w="12700">
            <a:miter lim="400000"/>
          </a:ln>
        </p:spPr>
        <p:txBody>
          <a:bodyPr lIns="45719" rIns="45719"/>
          <a:lstStyle/>
          <a:p>
            <a:pPr/>
          </a:p>
        </p:txBody>
      </p:sp>
      <p:sp>
        <p:nvSpPr>
          <p:cNvPr id="197" name="TextBox 4"/>
          <p:cNvSpPr txBox="1"/>
          <p:nvPr/>
        </p:nvSpPr>
        <p:spPr>
          <a:xfrm>
            <a:off x="5894575" y="159172"/>
            <a:ext cx="3274418" cy="672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Methodology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Freeform 2"/>
          <p:cNvSpPr/>
          <p:nvPr/>
        </p:nvSpPr>
        <p:spPr>
          <a:xfrm>
            <a:off x="0" y="928176"/>
            <a:ext cx="14630400" cy="12701"/>
          </a:xfrm>
          <a:prstGeom prst="rect">
            <a:avLst/>
          </a:prstGeom>
          <a:blipFill>
            <a:blip r:embed="rId2"/>
            <a:stretch>
              <a:fillRect/>
            </a:stretch>
          </a:blipFill>
          <a:ln w="12700">
            <a:miter lim="400000"/>
          </a:ln>
        </p:spPr>
        <p:txBody>
          <a:bodyPr lIns="45719" rIns="45719"/>
          <a:lstStyle/>
          <a:p>
            <a:pPr/>
          </a:p>
        </p:txBody>
      </p:sp>
      <p:sp>
        <p:nvSpPr>
          <p:cNvPr id="200" name="Freeform 4"/>
          <p:cNvSpPr/>
          <p:nvPr/>
        </p:nvSpPr>
        <p:spPr>
          <a:xfrm>
            <a:off x="4757042" y="1183186"/>
            <a:ext cx="4898994" cy="6682455"/>
          </a:xfrm>
          <a:prstGeom prst="rect">
            <a:avLst/>
          </a:prstGeom>
          <a:blipFill>
            <a:blip r:embed="rId3"/>
            <a:stretch>
              <a:fillRect/>
            </a:stretch>
          </a:blipFill>
          <a:ln w="12700">
            <a:miter lim="400000"/>
          </a:ln>
        </p:spPr>
        <p:txBody>
          <a:bodyPr lIns="45719" rIns="45719"/>
          <a:lstStyle/>
          <a:p>
            <a:pPr/>
          </a:p>
        </p:txBody>
      </p:sp>
      <p:sp>
        <p:nvSpPr>
          <p:cNvPr id="201" name="Freeform 5"/>
          <p:cNvSpPr/>
          <p:nvPr/>
        </p:nvSpPr>
        <p:spPr>
          <a:xfrm>
            <a:off x="6289290" y="1202550"/>
            <a:ext cx="2243205" cy="146696"/>
          </a:xfrm>
          <a:prstGeom prst="rect">
            <a:avLst/>
          </a:prstGeom>
          <a:blipFill>
            <a:blip r:embed="rId4"/>
            <a:stretch>
              <a:fillRect/>
            </a:stretch>
          </a:blipFill>
          <a:ln w="12700">
            <a:miter lim="400000"/>
          </a:ln>
        </p:spPr>
        <p:txBody>
          <a:bodyPr lIns="45719" rIns="45719"/>
          <a:lstStyle/>
          <a:p>
            <a:pPr/>
          </a:p>
        </p:txBody>
      </p:sp>
      <p:sp>
        <p:nvSpPr>
          <p:cNvPr id="202" name="TextBox 6"/>
          <p:cNvSpPr txBox="1"/>
          <p:nvPr/>
        </p:nvSpPr>
        <p:spPr>
          <a:xfrm>
            <a:off x="4960150" y="184861"/>
            <a:ext cx="5471492" cy="6727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sz="3900">
                <a:solidFill>
                  <a:srgbClr val="C55A11"/>
                </a:solidFill>
                <a:latin typeface="Calibri (MS)"/>
                <a:ea typeface="Calibri (MS)"/>
                <a:cs typeface="Calibri (MS)"/>
                <a:sym typeface="Calibri (MS)"/>
              </a:defRPr>
            </a:lvl1pPr>
          </a:lstStyle>
          <a:p>
            <a:pPr/>
            <a:r>
              <a:t>Work Flow Diagram</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Freeform 2"/>
          <p:cNvSpPr/>
          <p:nvPr/>
        </p:nvSpPr>
        <p:spPr>
          <a:xfrm>
            <a:off x="0" y="1131125"/>
            <a:ext cx="14630400" cy="12701"/>
          </a:xfrm>
          <a:prstGeom prst="rect">
            <a:avLst/>
          </a:prstGeom>
          <a:blipFill>
            <a:blip r:embed="rId2"/>
            <a:stretch>
              <a:fillRect/>
            </a:stretch>
          </a:blipFill>
          <a:ln w="12700">
            <a:miter lim="400000"/>
          </a:ln>
        </p:spPr>
        <p:txBody>
          <a:bodyPr lIns="45719" rIns="45719"/>
          <a:lstStyle/>
          <a:p>
            <a:pPr/>
          </a:p>
        </p:txBody>
      </p:sp>
      <p:sp>
        <p:nvSpPr>
          <p:cNvPr id="205" name="Freeform 3"/>
          <p:cNvSpPr/>
          <p:nvPr/>
        </p:nvSpPr>
        <p:spPr>
          <a:xfrm>
            <a:off x="9320145" y="1844678"/>
            <a:ext cx="4881116" cy="4729477"/>
          </a:xfrm>
          <a:prstGeom prst="rect">
            <a:avLst/>
          </a:prstGeom>
          <a:blipFill>
            <a:blip r:embed="rId3"/>
            <a:stretch>
              <a:fillRect/>
            </a:stretch>
          </a:blipFill>
          <a:ln w="12700">
            <a:miter lim="400000"/>
          </a:ln>
        </p:spPr>
        <p:txBody>
          <a:bodyPr lIns="45719" rIns="45719"/>
          <a:lstStyle/>
          <a:p>
            <a:pPr/>
          </a:p>
        </p:txBody>
      </p:sp>
      <p:sp>
        <p:nvSpPr>
          <p:cNvPr id="206" name="TextBox 4"/>
          <p:cNvSpPr txBox="1"/>
          <p:nvPr/>
        </p:nvSpPr>
        <p:spPr>
          <a:xfrm>
            <a:off x="787908" y="2901209"/>
            <a:ext cx="8196872" cy="21325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ts val="2800"/>
              </a:lnSpc>
              <a:defRPr spc="16" sz="2400">
                <a:latin typeface="Roboto"/>
                <a:ea typeface="Roboto"/>
                <a:cs typeface="Roboto"/>
                <a:sym typeface="Roboto"/>
              </a:defRPr>
            </a:lvl1pPr>
          </a:lstStyle>
          <a:p>
            <a:pPr/>
            <a:r>
              <a:t>We have built a unified system that can classify and grade Leukemia together. Metaheuristic method PSO was used to select features and tune the model. The system combines both tasks in one pipeline for faster results. The next step is to improve its accuracy and reliability, especially on imbalanced medical data.</a:t>
            </a:r>
          </a:p>
        </p:txBody>
      </p:sp>
      <p:sp>
        <p:nvSpPr>
          <p:cNvPr id="207" name="TextBox 5"/>
          <p:cNvSpPr txBox="1"/>
          <p:nvPr/>
        </p:nvSpPr>
        <p:spPr>
          <a:xfrm>
            <a:off x="6167370" y="380151"/>
            <a:ext cx="3094113" cy="6727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Conclusion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Freeform 2"/>
          <p:cNvSpPr/>
          <p:nvPr/>
        </p:nvSpPr>
        <p:spPr>
          <a:xfrm>
            <a:off x="0" y="1131125"/>
            <a:ext cx="14630400" cy="12701"/>
          </a:xfrm>
          <a:prstGeom prst="rect">
            <a:avLst/>
          </a:prstGeom>
          <a:blipFill>
            <a:blip r:embed="rId2"/>
            <a:stretch>
              <a:fillRect/>
            </a:stretch>
          </a:blipFill>
          <a:ln w="12700">
            <a:miter lim="400000"/>
          </a:ln>
        </p:spPr>
        <p:txBody>
          <a:bodyPr lIns="45719" rIns="45719"/>
          <a:lstStyle/>
          <a:p>
            <a:pPr/>
          </a:p>
        </p:txBody>
      </p:sp>
      <p:sp>
        <p:nvSpPr>
          <p:cNvPr id="210" name="Freeform 3"/>
          <p:cNvSpPr/>
          <p:nvPr/>
        </p:nvSpPr>
        <p:spPr>
          <a:xfrm>
            <a:off x="2222305" y="2586295"/>
            <a:ext cx="10185780" cy="773812"/>
          </a:xfrm>
          <a:prstGeom prst="rect">
            <a:avLst/>
          </a:prstGeom>
          <a:blipFill>
            <a:blip r:embed="rId3"/>
            <a:stretch>
              <a:fillRect/>
            </a:stretch>
          </a:blipFill>
          <a:ln w="12700">
            <a:miter lim="400000"/>
          </a:ln>
        </p:spPr>
        <p:txBody>
          <a:bodyPr lIns="45719" rIns="45719"/>
          <a:lstStyle/>
          <a:p>
            <a:pPr/>
          </a:p>
        </p:txBody>
      </p:sp>
      <p:sp>
        <p:nvSpPr>
          <p:cNvPr id="211" name="Freeform 4"/>
          <p:cNvSpPr/>
          <p:nvPr/>
        </p:nvSpPr>
        <p:spPr>
          <a:xfrm>
            <a:off x="2222305" y="3381061"/>
            <a:ext cx="10185780" cy="773812"/>
          </a:xfrm>
          <a:prstGeom prst="rect">
            <a:avLst/>
          </a:prstGeom>
          <a:blipFill>
            <a:blip r:embed="rId4"/>
            <a:stretch>
              <a:fillRect/>
            </a:stretch>
          </a:blipFill>
          <a:ln w="12700">
            <a:miter lim="400000"/>
          </a:ln>
        </p:spPr>
        <p:txBody>
          <a:bodyPr lIns="45719" rIns="45719"/>
          <a:lstStyle/>
          <a:p>
            <a:pPr/>
          </a:p>
        </p:txBody>
      </p:sp>
      <p:sp>
        <p:nvSpPr>
          <p:cNvPr id="212" name="Freeform 5"/>
          <p:cNvSpPr/>
          <p:nvPr/>
        </p:nvSpPr>
        <p:spPr>
          <a:xfrm>
            <a:off x="2222305" y="4175950"/>
            <a:ext cx="10185780" cy="773813"/>
          </a:xfrm>
          <a:prstGeom prst="rect">
            <a:avLst/>
          </a:prstGeom>
          <a:blipFill>
            <a:blip r:embed="rId5"/>
            <a:stretch>
              <a:fillRect/>
            </a:stretch>
          </a:blipFill>
          <a:ln w="12700">
            <a:miter lim="400000"/>
          </a:ln>
        </p:spPr>
        <p:txBody>
          <a:bodyPr lIns="45719" rIns="45719"/>
          <a:lstStyle/>
          <a:p>
            <a:pPr/>
          </a:p>
        </p:txBody>
      </p:sp>
      <p:sp>
        <p:nvSpPr>
          <p:cNvPr id="213" name="Freeform 6"/>
          <p:cNvSpPr/>
          <p:nvPr/>
        </p:nvSpPr>
        <p:spPr>
          <a:xfrm>
            <a:off x="2222305" y="4970716"/>
            <a:ext cx="10185780" cy="976380"/>
          </a:xfrm>
          <a:prstGeom prst="rect">
            <a:avLst/>
          </a:prstGeom>
          <a:blipFill>
            <a:blip r:embed="rId6"/>
            <a:stretch>
              <a:fillRect/>
            </a:stretch>
          </a:blipFill>
          <a:ln w="12700">
            <a:miter lim="400000"/>
          </a:ln>
        </p:spPr>
        <p:txBody>
          <a:bodyPr lIns="45719" rIns="45719"/>
          <a:lstStyle/>
          <a:p>
            <a:pPr/>
          </a:p>
        </p:txBody>
      </p:sp>
      <p:sp>
        <p:nvSpPr>
          <p:cNvPr id="214" name="Freeform 7"/>
          <p:cNvSpPr/>
          <p:nvPr/>
        </p:nvSpPr>
        <p:spPr>
          <a:xfrm>
            <a:off x="2493387" y="2795777"/>
            <a:ext cx="269749" cy="269749"/>
          </a:xfrm>
          <a:prstGeom prst="rect">
            <a:avLst/>
          </a:prstGeom>
          <a:blipFill>
            <a:blip r:embed="rId7"/>
            <a:stretch>
              <a:fillRect/>
            </a:stretch>
          </a:blipFill>
          <a:ln w="12700">
            <a:miter lim="400000"/>
          </a:ln>
        </p:spPr>
        <p:txBody>
          <a:bodyPr lIns="45719" rIns="45719"/>
          <a:lstStyle/>
          <a:p>
            <a:pPr/>
          </a:p>
        </p:txBody>
      </p:sp>
      <p:sp>
        <p:nvSpPr>
          <p:cNvPr id="215" name="Freeform 8"/>
          <p:cNvSpPr/>
          <p:nvPr/>
        </p:nvSpPr>
        <p:spPr>
          <a:xfrm>
            <a:off x="2493387" y="3590544"/>
            <a:ext cx="269749" cy="269749"/>
          </a:xfrm>
          <a:prstGeom prst="rect">
            <a:avLst/>
          </a:prstGeom>
          <a:blipFill>
            <a:blip r:embed="rId7"/>
            <a:stretch>
              <a:fillRect/>
            </a:stretch>
          </a:blipFill>
          <a:ln w="12700">
            <a:miter lim="400000"/>
          </a:ln>
        </p:spPr>
        <p:txBody>
          <a:bodyPr lIns="45719" rIns="45719"/>
          <a:lstStyle/>
          <a:p>
            <a:pPr/>
          </a:p>
        </p:txBody>
      </p:sp>
      <p:sp>
        <p:nvSpPr>
          <p:cNvPr id="216" name="Freeform 9"/>
          <p:cNvSpPr/>
          <p:nvPr/>
        </p:nvSpPr>
        <p:spPr>
          <a:xfrm>
            <a:off x="2493387" y="4385433"/>
            <a:ext cx="269749" cy="269749"/>
          </a:xfrm>
          <a:prstGeom prst="rect">
            <a:avLst/>
          </a:prstGeom>
          <a:blipFill>
            <a:blip r:embed="rId7"/>
            <a:stretch>
              <a:fillRect/>
            </a:stretch>
          </a:blipFill>
          <a:ln w="12700">
            <a:miter lim="400000"/>
          </a:ln>
        </p:spPr>
        <p:txBody>
          <a:bodyPr lIns="45719" rIns="45719"/>
          <a:lstStyle/>
          <a:p>
            <a:pPr/>
          </a:p>
        </p:txBody>
      </p:sp>
      <p:sp>
        <p:nvSpPr>
          <p:cNvPr id="217" name="Freeform 10"/>
          <p:cNvSpPr/>
          <p:nvPr/>
        </p:nvSpPr>
        <p:spPr>
          <a:xfrm>
            <a:off x="2493387" y="5323969"/>
            <a:ext cx="269749" cy="269749"/>
          </a:xfrm>
          <a:prstGeom prst="rect">
            <a:avLst/>
          </a:prstGeom>
          <a:blipFill>
            <a:blip r:embed="rId7"/>
            <a:stretch>
              <a:fillRect/>
            </a:stretch>
          </a:blipFill>
          <a:ln w="12700">
            <a:miter lim="400000"/>
          </a:ln>
        </p:spPr>
        <p:txBody>
          <a:bodyPr lIns="45719" rIns="45719"/>
          <a:lstStyle/>
          <a:p>
            <a:pPr/>
          </a:p>
        </p:txBody>
      </p:sp>
      <p:sp>
        <p:nvSpPr>
          <p:cNvPr id="218" name="TextBox 11"/>
          <p:cNvSpPr txBox="1"/>
          <p:nvPr/>
        </p:nvSpPr>
        <p:spPr>
          <a:xfrm>
            <a:off x="6159751" y="300904"/>
            <a:ext cx="2913287" cy="6727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5500"/>
              </a:lnSpc>
              <a:defRPr b="1" sz="3900">
                <a:solidFill>
                  <a:srgbClr val="C55A11"/>
                </a:solidFill>
                <a:latin typeface="Calibri (MS) Bold"/>
                <a:ea typeface="Calibri (MS) Bold"/>
                <a:cs typeface="Calibri (MS) Bold"/>
                <a:sym typeface="Calibri (MS) Bold"/>
              </a:defRPr>
            </a:lvl1pPr>
          </a:lstStyle>
          <a:p>
            <a:pPr/>
            <a:r>
              <a:t>References</a:t>
            </a:r>
          </a:p>
        </p:txBody>
      </p:sp>
      <p:sp>
        <p:nvSpPr>
          <p:cNvPr id="219" name="TextBox 12"/>
          <p:cNvSpPr txBox="1"/>
          <p:nvPr/>
        </p:nvSpPr>
        <p:spPr>
          <a:xfrm>
            <a:off x="2855089" y="2824515"/>
            <a:ext cx="7778079" cy="2673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200"/>
              </a:lnSpc>
              <a:defRPr sz="1500">
                <a:latin typeface="Calibri (MS)"/>
                <a:ea typeface="Calibri (MS)"/>
                <a:cs typeface="Calibri (MS)"/>
                <a:sym typeface="Calibri (MS)"/>
              </a:defRPr>
            </a:pPr>
            <a:r>
              <a:t>ALL-IDB(Acute Lyphoblastic Leukemia Image Database) - </a:t>
            </a:r>
            <a:r>
              <a:rPr>
                <a:solidFill>
                  <a:srgbClr val="4472C4"/>
                </a:solidFill>
              </a:rPr>
              <a:t>https://home.di.unimi.it/scottin/all/</a:t>
            </a:r>
          </a:p>
        </p:txBody>
      </p:sp>
      <p:sp>
        <p:nvSpPr>
          <p:cNvPr id="220" name="TextBox 13"/>
          <p:cNvSpPr txBox="1"/>
          <p:nvPr/>
        </p:nvSpPr>
        <p:spPr>
          <a:xfrm>
            <a:off x="2855090" y="3619413"/>
            <a:ext cx="7836008" cy="267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200"/>
              </a:lnSpc>
              <a:defRPr sz="1500">
                <a:latin typeface="Calibri (MS)"/>
                <a:ea typeface="Calibri (MS)"/>
                <a:cs typeface="Calibri (MS)"/>
                <a:sym typeface="Calibri (MS)"/>
              </a:defRPr>
            </a:pPr>
            <a:r>
              <a:t>C-NMC(Leukemia Classification) – </a:t>
            </a:r>
            <a:r>
              <a:rPr>
                <a:solidFill>
                  <a:srgbClr val="4472C4"/>
                </a:solidFill>
              </a:rPr>
              <a:t>https://www.kaggle.com./datasets/shafiullahshafin/c-nmc/</a:t>
            </a:r>
          </a:p>
        </p:txBody>
      </p:sp>
      <p:sp>
        <p:nvSpPr>
          <p:cNvPr id="221" name="TextBox 14"/>
          <p:cNvSpPr txBox="1"/>
          <p:nvPr/>
        </p:nvSpPr>
        <p:spPr>
          <a:xfrm>
            <a:off x="2855090" y="5209326"/>
            <a:ext cx="8471887" cy="5467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500">
                <a:latin typeface="Calibri (MS)"/>
                <a:ea typeface="Calibri (MS)"/>
                <a:cs typeface="Calibri (MS)"/>
                <a:sym typeface="Calibri (MS)"/>
              </a:defRPr>
            </a:lvl1pPr>
          </a:lstStyle>
          <a:p>
            <a:pPr/>
            <a:r>
              <a:t>Kennedy,J.,&amp; Elberhart, R.(1995).Particle swarm optimization in proceeding of ICNN’95-International Conference onNeuralnetworks,1942-1948</a:t>
            </a:r>
          </a:p>
        </p:txBody>
      </p:sp>
      <p:sp>
        <p:nvSpPr>
          <p:cNvPr id="222" name="TextBox 15"/>
          <p:cNvSpPr txBox="1"/>
          <p:nvPr/>
        </p:nvSpPr>
        <p:spPr>
          <a:xfrm>
            <a:off x="2766697" y="4428657"/>
            <a:ext cx="9699395" cy="267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2200"/>
              </a:lnSpc>
              <a:defRPr sz="1500">
                <a:latin typeface="Calibri (MS)"/>
                <a:ea typeface="Calibri (MS)"/>
                <a:cs typeface="Calibri (MS)"/>
                <a:sym typeface="Calibri (MS)"/>
              </a:defRPr>
            </a:pPr>
            <a:r>
              <a:t>Blood Cell Detection and Classification(BCCD) – </a:t>
            </a:r>
            <a:r>
              <a:rPr>
                <a:solidFill>
                  <a:srgbClr val="4472C4"/>
                </a:solidFill>
              </a:rPr>
              <a:t>https://www.kaggle.com/datasets/paultimothymooney/blood-cells</a:t>
            </a:r>
            <a:r>
              <a:t>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