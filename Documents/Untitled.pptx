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1pPr>
    <a:lvl2pPr marL="0" marR="0" indent="457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2pPr>
    <a:lvl3pPr marL="0" marR="0" indent="914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3pPr>
    <a:lvl4pPr marL="0" marR="0" indent="1371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4pPr>
    <a:lvl5pPr marL="0" marR="0" indent="18288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5pPr>
    <a:lvl6pPr marL="0" marR="0" indent="22860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6pPr>
    <a:lvl7pPr marL="0" marR="0" indent="2743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7pPr>
    <a:lvl8pPr marL="0" marR="0" indent="3200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8pPr>
    <a:lvl9pPr marL="0" marR="0" indent="3657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b="def" i="def"/>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500" y="12268950"/>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12"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13"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14" name="Slide Number"/>
          <p:cNvSpPr txBox="1"/>
          <p:nvPr>
            <p:ph type="sldNum" sz="quarter" idx="2"/>
          </p:nvPr>
        </p:nvSpPr>
        <p:spPr>
          <a:xfrm>
            <a:off x="23558499" y="1246072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bg>
      <p:bgPr>
        <a:solidFill>
          <a:srgbClr val="FFFFFF"/>
        </a:solidFill>
      </p:bgPr>
    </p:bg>
    <p:spTree>
      <p:nvGrpSpPr>
        <p:cNvPr id="1" name=""/>
        <p:cNvGrpSpPr/>
        <p:nvPr/>
      </p:nvGrpSpPr>
      <p:grpSpPr>
        <a:xfrm>
          <a:off x="0" y="0"/>
          <a:ext cx="0" cy="0"/>
          <a:chOff x="0" y="0"/>
          <a:chExt cx="0" cy="0"/>
        </a:xfrm>
      </p:grpSpPr>
      <p:sp>
        <p:nvSpPr>
          <p:cNvPr id="21" name="Curved, white arches on a grey reflective floor"/>
          <p:cNvSpPr/>
          <p:nvPr>
            <p:ph type="pic" idx="21"/>
          </p:nvPr>
        </p:nvSpPr>
        <p:spPr>
          <a:xfrm>
            <a:off x="-76200" y="-558800"/>
            <a:ext cx="24574500" cy="14839510"/>
          </a:xfrm>
          <a:prstGeom prst="rect">
            <a:avLst/>
          </a:prstGeom>
        </p:spPr>
        <p:txBody>
          <a:bodyPr lIns="91439" tIns="45719" rIns="91439" bIns="45719">
            <a:noAutofit/>
          </a:bodyPr>
          <a:lstStyle/>
          <a:p>
            <a:pPr/>
          </a:p>
        </p:txBody>
      </p:sp>
      <p:sp>
        <p:nvSpPr>
          <p:cNvPr id="22" name="Author and Date"/>
          <p:cNvSpPr txBox="1"/>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23"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24"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Low angle view of a tall building with mirrored glass windows"/>
          <p:cNvSpPr/>
          <p:nvPr>
            <p:ph type="pic" idx="21"/>
          </p:nvPr>
        </p:nvSpPr>
        <p:spPr>
          <a:xfrm>
            <a:off x="8140700" y="-1"/>
            <a:ext cx="20574000" cy="13716001"/>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3335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43" name="Slide Title"/>
          <p:cNvSpPr txBox="1"/>
          <p:nvPr>
            <p:ph type="title" hasCustomPrompt="1"/>
          </p:nvPr>
        </p:nvSpPr>
        <p:spPr>
          <a:prstGeom prst="rect">
            <a:avLst/>
          </a:prstGeom>
        </p:spPr>
        <p:txBody>
          <a:bodyPr/>
          <a:lstStyle/>
          <a:p>
            <a:pPr/>
            <a:r>
              <a:t>Slide 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Partial view of a ceiling with wood panelling"/>
          <p:cNvSpPr/>
          <p:nvPr>
            <p:ph type="pic" idx="21"/>
          </p:nvPr>
        </p:nvSpPr>
        <p:spPr>
          <a:xfrm>
            <a:off x="9588500" y="-482600"/>
            <a:ext cx="21513800" cy="14300200"/>
          </a:xfrm>
          <a:prstGeom prst="rect">
            <a:avLst/>
          </a:prstGeom>
        </p:spPr>
        <p:txBody>
          <a:bodyPr lIns="91439" tIns="45719" rIns="91439" bIns="45719">
            <a:noAutofit/>
          </a:bodyPr>
          <a:lstStyle/>
          <a:p>
            <a:pPr/>
          </a:p>
        </p:txBody>
      </p:sp>
      <p:sp>
        <p:nvSpPr>
          <p:cNvPr id="61" name="Slide Subtitle"/>
          <p:cNvSpPr txBox="1"/>
          <p:nvPr>
            <p:ph type="body" sz="quarter" idx="22"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6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6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72" name="Slide Title"/>
          <p:cNvSpPr txBox="1"/>
          <p:nvPr>
            <p:ph type="title" hasCustomPrompt="1"/>
          </p:nvPr>
        </p:nvSpPr>
        <p:spPr>
          <a:prstGeom prst="rect">
            <a:avLst/>
          </a:prstGeom>
        </p:spPr>
        <p:txBody>
          <a:bodyPr/>
          <a:lstStyle/>
          <a:p>
            <a:pPr/>
            <a:r>
              <a:t>Slide 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8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3911600"/>
            <a:ext cx="21971004" cy="4648200"/>
          </a:xfrm>
          <a:prstGeom prst="rect">
            <a:avLst/>
          </a:prstGeom>
        </p:spPr>
        <p:txBody>
          <a:bodyPr anchor="ctr"/>
          <a:lstStyle>
            <a:lvl1pPr>
              <a:defRPr spc="-119" sz="12000"/>
            </a:lvl1pPr>
          </a:lstStyle>
          <a:p>
            <a:pPr/>
            <a:r>
              <a:t>Section Title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100" name="Slide Title"/>
          <p:cNvSpPr txBox="1"/>
          <p:nvPr>
            <p:ph type="title" hasCustomPrompt="1"/>
          </p:nvPr>
        </p:nvSpPr>
        <p:spPr>
          <a:prstGeom prst="rect">
            <a:avLst/>
          </a:prstGeom>
        </p:spPr>
        <p:txBody>
          <a:bodyPr/>
          <a:lstStyle/>
          <a:p>
            <a:pPr/>
            <a:r>
              <a:t>Slide 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Agenda Subtitle</a:t>
            </a:r>
          </a:p>
        </p:txBody>
      </p:sp>
      <p:sp>
        <p:nvSpPr>
          <p:cNvPr id="109" name="Body Level One…"/>
          <p:cNvSpPr txBox="1"/>
          <p:nvPr>
            <p:ph type="body" idx="1" hasCustomPrompt="1"/>
          </p:nvPr>
        </p:nvSpPr>
        <p:spPr>
          <a:prstGeom prst="rect">
            <a:avLst/>
          </a:prstGeom>
        </p:spPr>
        <p:txBody>
          <a:bodyPr/>
          <a:lstStyle>
            <a:lvl1pPr marL="0" indent="0">
              <a:spcBef>
                <a:spcPts val="6000"/>
              </a:spcBef>
              <a:buSzTx/>
              <a:buNone/>
              <a:defRPr sz="5000"/>
            </a:lvl1pPr>
            <a:lvl2pPr marL="0" indent="457200">
              <a:spcBef>
                <a:spcPts val="6000"/>
              </a:spcBef>
              <a:buSzTx/>
              <a:buNone/>
              <a:defRPr sz="5000"/>
            </a:lvl2pPr>
            <a:lvl3pPr marL="0" indent="914400">
              <a:spcBef>
                <a:spcPts val="6000"/>
              </a:spcBef>
              <a:buSzTx/>
              <a:buNone/>
              <a:defRPr sz="5000"/>
            </a:lvl3pPr>
            <a:lvl4pPr marL="0" indent="1371600">
              <a:spcBef>
                <a:spcPts val="6000"/>
              </a:spcBef>
              <a:buSzTx/>
              <a:buNone/>
              <a:defRPr sz="5000"/>
            </a:lvl4pPr>
            <a:lvl5pPr marL="0" indent="1828800">
              <a:spcBef>
                <a:spcPts val="6000"/>
              </a:spcBef>
              <a:buSzTx/>
              <a:buNone/>
              <a:defRPr sz="5000"/>
            </a:lvl5pPr>
          </a:lstStyle>
          <a:p>
            <a:pPr/>
            <a:r>
              <a:t>Agenda Topics</a:t>
            </a:r>
          </a:p>
          <a:p>
            <a:pPr lvl="1"/>
            <a:r>
              <a:t/>
            </a:r>
          </a:p>
          <a:p>
            <a:pPr lvl="2"/>
            <a:r>
              <a:t/>
            </a:r>
          </a:p>
          <a:p>
            <a:pPr lvl="3"/>
            <a:r>
              <a:t/>
            </a:r>
          </a:p>
          <a:p>
            <a:pPr lvl="4"/>
            <a:r>
              <a:t/>
            </a:r>
          </a:p>
        </p:txBody>
      </p:sp>
      <p:sp>
        <p:nvSpPr>
          <p:cNvPr id="110" name="Agenda Title"/>
          <p:cNvSpPr txBox="1"/>
          <p:nvPr>
            <p:ph type="title" hasCustomPrompt="1"/>
          </p:nvPr>
        </p:nvSpPr>
        <p:spPr>
          <a:prstGeom prst="rect">
            <a:avLst/>
          </a:prstGeom>
        </p:spPr>
        <p:txBody>
          <a:bodyPr/>
          <a:lstStyle/>
          <a:p>
            <a:pPr/>
            <a:r>
              <a:t>Agenda Title</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pc="-119" sz="12000">
                <a:latin typeface="+mn-lt"/>
                <a:ea typeface="+mn-ea"/>
                <a:cs typeface="+mn-cs"/>
                <a:sym typeface="Produkt Extralight"/>
              </a:defRPr>
            </a:lvl1pPr>
            <a:lvl2pPr marL="0" indent="457200" algn="ctr" defTabSz="2438400">
              <a:lnSpc>
                <a:spcPct val="90000"/>
              </a:lnSpc>
              <a:spcBef>
                <a:spcPts val="0"/>
              </a:spcBef>
              <a:buSzTx/>
              <a:buNone/>
              <a:defRPr spc="-119" sz="12000">
                <a:latin typeface="+mn-lt"/>
                <a:ea typeface="+mn-ea"/>
                <a:cs typeface="+mn-cs"/>
                <a:sym typeface="Produkt Extralight"/>
              </a:defRPr>
            </a:lvl2pPr>
            <a:lvl3pPr marL="0" indent="914400" algn="ctr" defTabSz="2438400">
              <a:lnSpc>
                <a:spcPct val="90000"/>
              </a:lnSpc>
              <a:spcBef>
                <a:spcPts val="0"/>
              </a:spcBef>
              <a:buSzTx/>
              <a:buNone/>
              <a:defRPr spc="-119" sz="12000">
                <a:latin typeface="+mn-lt"/>
                <a:ea typeface="+mn-ea"/>
                <a:cs typeface="+mn-cs"/>
                <a:sym typeface="Produkt Extralight"/>
              </a:defRPr>
            </a:lvl3pPr>
            <a:lvl4pPr marL="0" indent="1371600" algn="ctr" defTabSz="2438400">
              <a:lnSpc>
                <a:spcPct val="90000"/>
              </a:lnSpc>
              <a:spcBef>
                <a:spcPts val="0"/>
              </a:spcBef>
              <a:buSzTx/>
              <a:buNone/>
              <a:defRPr spc="-119" sz="12000">
                <a:latin typeface="+mn-lt"/>
                <a:ea typeface="+mn-ea"/>
                <a:cs typeface="+mn-cs"/>
                <a:sym typeface="Produkt Extralight"/>
              </a:defRPr>
            </a:lvl4pPr>
            <a:lvl5pPr marL="0" indent="1828800" algn="ctr" defTabSz="2438400">
              <a:lnSpc>
                <a:spcPct val="90000"/>
              </a:lnSpc>
              <a:spcBef>
                <a:spcPts val="0"/>
              </a:spcBef>
              <a:buSzTx/>
              <a:buNone/>
              <a:defRPr spc="-119" sz="12000">
                <a:latin typeface="+mn-lt"/>
                <a:ea typeface="+mn-ea"/>
                <a:cs typeface="+mn-cs"/>
                <a:sym typeface="Produkt Extralight"/>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pc="-1750" sz="35000">
                <a:latin typeface="+mn-lt"/>
                <a:ea typeface="+mn-ea"/>
                <a:cs typeface="+mn-cs"/>
                <a:sym typeface="Produkt Extralight"/>
              </a:defRPr>
            </a:lvl1pPr>
            <a:lvl2pPr marL="0" indent="457200" algn="ctr" defTabSz="2438400">
              <a:lnSpc>
                <a:spcPct val="90000"/>
              </a:lnSpc>
              <a:spcBef>
                <a:spcPts val="0"/>
              </a:spcBef>
              <a:buSzTx/>
              <a:buNone/>
              <a:defRPr spc="-1750" sz="35000">
                <a:latin typeface="+mn-lt"/>
                <a:ea typeface="+mn-ea"/>
                <a:cs typeface="+mn-cs"/>
                <a:sym typeface="Produkt Extralight"/>
              </a:defRPr>
            </a:lvl2pPr>
            <a:lvl3pPr marL="0" indent="914400" algn="ctr" defTabSz="2438400">
              <a:lnSpc>
                <a:spcPct val="90000"/>
              </a:lnSpc>
              <a:spcBef>
                <a:spcPts val="0"/>
              </a:spcBef>
              <a:buSzTx/>
              <a:buNone/>
              <a:defRPr spc="-1750" sz="35000">
                <a:latin typeface="+mn-lt"/>
                <a:ea typeface="+mn-ea"/>
                <a:cs typeface="+mn-cs"/>
                <a:sym typeface="Produkt Extralight"/>
              </a:defRPr>
            </a:lvl3pPr>
            <a:lvl4pPr marL="0" indent="1371600" algn="ctr" defTabSz="2438400">
              <a:lnSpc>
                <a:spcPct val="90000"/>
              </a:lnSpc>
              <a:spcBef>
                <a:spcPts val="0"/>
              </a:spcBef>
              <a:buSzTx/>
              <a:buNone/>
              <a:defRPr spc="-1750" sz="35000">
                <a:latin typeface="+mn-lt"/>
                <a:ea typeface="+mn-ea"/>
                <a:cs typeface="+mn-cs"/>
                <a:sym typeface="Produkt Extralight"/>
              </a:defRPr>
            </a:lvl4pPr>
            <a:lvl5pPr marL="0" indent="1828800" algn="ctr" defTabSz="2438400">
              <a:lnSpc>
                <a:spcPct val="90000"/>
              </a:lnSpc>
              <a:spcBef>
                <a:spcPts val="0"/>
              </a:spcBef>
              <a:buSzTx/>
              <a:buNone/>
              <a:defRPr spc="-1750" sz="35000">
                <a:latin typeface="+mn-lt"/>
                <a:ea typeface="+mn-ea"/>
                <a:cs typeface="+mn-cs"/>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pc="-55" sz="5500">
                <a:latin typeface="+mn-lt"/>
                <a:ea typeface="+mn-ea"/>
                <a:cs typeface="+mn-cs"/>
                <a:sym typeface="Produkt Extralight"/>
              </a:defRPr>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5461000" y="9563100"/>
            <a:ext cx="13728700" cy="698500"/>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pPr/>
            <a:r>
              <a:t>Attribution</a:t>
            </a:r>
          </a:p>
        </p:txBody>
      </p:sp>
      <p:sp>
        <p:nvSpPr>
          <p:cNvPr id="136" name="Body Level One…"/>
          <p:cNvSpPr txBox="1"/>
          <p:nvPr>
            <p:ph type="body" sz="quarter" idx="1" hasCustomPrompt="1"/>
          </p:nvPr>
        </p:nvSpPr>
        <p:spPr>
          <a:xfrm>
            <a:off x="5194300" y="4165600"/>
            <a:ext cx="13995400" cy="4432300"/>
          </a:xfrm>
          <a:prstGeom prst="rect">
            <a:avLst/>
          </a:prstGeom>
        </p:spPr>
        <p:txBody>
          <a:bodyPr anchor="b"/>
          <a:lstStyle>
            <a:lvl1pPr marL="254000" indent="-254000" defTabSz="2438400">
              <a:lnSpc>
                <a:spcPct val="90000"/>
              </a:lnSpc>
              <a:spcBef>
                <a:spcPts val="0"/>
              </a:spcBef>
              <a:buSzTx/>
              <a:buNone/>
              <a:defRPr spc="-93" sz="9300">
                <a:latin typeface="+mn-lt"/>
                <a:ea typeface="+mn-ea"/>
                <a:cs typeface="+mn-cs"/>
                <a:sym typeface="Produkt Extralight"/>
              </a:defRPr>
            </a:lvl1pPr>
            <a:lvl2pPr marL="254000" indent="203200" defTabSz="2438400">
              <a:lnSpc>
                <a:spcPct val="90000"/>
              </a:lnSpc>
              <a:spcBef>
                <a:spcPts val="0"/>
              </a:spcBef>
              <a:buSzTx/>
              <a:buNone/>
              <a:defRPr spc="-93" sz="9300">
                <a:latin typeface="+mn-lt"/>
                <a:ea typeface="+mn-ea"/>
                <a:cs typeface="+mn-cs"/>
                <a:sym typeface="Produkt Extralight"/>
              </a:defRPr>
            </a:lvl2pPr>
            <a:lvl3pPr marL="254000" indent="660400" defTabSz="2438400">
              <a:lnSpc>
                <a:spcPct val="90000"/>
              </a:lnSpc>
              <a:spcBef>
                <a:spcPts val="0"/>
              </a:spcBef>
              <a:buSzTx/>
              <a:buNone/>
              <a:defRPr spc="-93" sz="9300">
                <a:latin typeface="+mn-lt"/>
                <a:ea typeface="+mn-ea"/>
                <a:cs typeface="+mn-cs"/>
                <a:sym typeface="Produkt Extralight"/>
              </a:defRPr>
            </a:lvl3pPr>
            <a:lvl4pPr marL="254000" indent="1117600" defTabSz="2438400">
              <a:lnSpc>
                <a:spcPct val="90000"/>
              </a:lnSpc>
              <a:spcBef>
                <a:spcPts val="0"/>
              </a:spcBef>
              <a:buSzTx/>
              <a:buNone/>
              <a:defRPr spc="-93" sz="9300">
                <a:latin typeface="+mn-lt"/>
                <a:ea typeface="+mn-ea"/>
                <a:cs typeface="+mn-cs"/>
                <a:sym typeface="Produkt Extralight"/>
              </a:defRPr>
            </a:lvl4pPr>
            <a:lvl5pPr marL="254000" indent="1574800" defTabSz="2438400">
              <a:lnSpc>
                <a:spcPct val="90000"/>
              </a:lnSpc>
              <a:spcBef>
                <a:spcPts val="0"/>
              </a:spcBef>
              <a:buSzTx/>
              <a:buNone/>
              <a:defRPr spc="-93" sz="9300">
                <a:latin typeface="+mn-lt"/>
                <a:ea typeface="+mn-ea"/>
                <a:cs typeface="+mn-cs"/>
                <a:sym typeface="Produkt Extralight"/>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orridor of an open-air stone building under a pink and purple sky"/>
          <p:cNvSpPr/>
          <p:nvPr>
            <p:ph type="pic" sz="quarter" idx="21"/>
          </p:nvPr>
        </p:nvSpPr>
        <p:spPr>
          <a:xfrm>
            <a:off x="1257300" y="3213100"/>
            <a:ext cx="7289800" cy="7289800"/>
          </a:xfrm>
          <a:prstGeom prst="rect">
            <a:avLst/>
          </a:prstGeom>
        </p:spPr>
        <p:txBody>
          <a:bodyPr lIns="91439" tIns="45719" rIns="91439" bIns="45719">
            <a:noAutofit/>
          </a:bodyPr>
          <a:lstStyle/>
          <a:p>
            <a:pPr/>
          </a:p>
        </p:txBody>
      </p:sp>
      <p:sp>
        <p:nvSpPr>
          <p:cNvPr id="145" name="Black and white close-up of a curved roof"/>
          <p:cNvSpPr/>
          <p:nvPr>
            <p:ph type="pic" sz="half" idx="22"/>
          </p:nvPr>
        </p:nvSpPr>
        <p:spPr>
          <a:xfrm>
            <a:off x="6577500" y="3632200"/>
            <a:ext cx="11228999" cy="6451600"/>
          </a:xfrm>
          <a:prstGeom prst="rect">
            <a:avLst/>
          </a:prstGeom>
        </p:spPr>
        <p:txBody>
          <a:bodyPr lIns="91439" tIns="45719" rIns="91439" bIns="45719">
            <a:noAutofit/>
          </a:bodyPr>
          <a:lstStyle/>
          <a:p>
            <a:pPr/>
          </a:p>
        </p:txBody>
      </p:sp>
      <p:sp>
        <p:nvSpPr>
          <p:cNvPr id="146" name="Low angle view of a metal spiral staircase"/>
          <p:cNvSpPr/>
          <p:nvPr>
            <p:ph type="pic" sz="quarter" idx="23"/>
          </p:nvPr>
        </p:nvSpPr>
        <p:spPr>
          <a:xfrm>
            <a:off x="14643100" y="3632200"/>
            <a:ext cx="9677400" cy="64516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bg>
      <p:bgPr>
        <a:solidFill>
          <a:srgbClr val="FFFFFF"/>
        </a:solidFill>
      </p:bgPr>
    </p:bg>
    <p:spTree>
      <p:nvGrpSpPr>
        <p:cNvPr id="1" name=""/>
        <p:cNvGrpSpPr/>
        <p:nvPr/>
      </p:nvGrpSpPr>
      <p:grpSpPr>
        <a:xfrm>
          <a:off x="0" y="0"/>
          <a:ext cx="0" cy="0"/>
          <a:chOff x="0" y="0"/>
          <a:chExt cx="0" cy="0"/>
        </a:xfrm>
      </p:grpSpPr>
      <p:sp>
        <p:nvSpPr>
          <p:cNvPr id="154" name="Futuristic, white corridor with shadows"/>
          <p:cNvSpPr/>
          <p:nvPr>
            <p:ph type="pic" idx="21"/>
          </p:nvPr>
        </p:nvSpPr>
        <p:spPr>
          <a:xfrm>
            <a:off x="-38100" y="-520700"/>
            <a:ext cx="24447500" cy="1476331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23558499" y="12458699"/>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xmlns:p14="http://schemas.microsoft.com/office/powerpoint/2010/main" spd="med" advClick="1"/>
  <p:txStyles>
    <p:titleStyle>
      <a:lvl1pPr marL="0" marR="0" indent="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1pPr>
      <a:lvl2pPr marL="0" marR="0" indent="457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2pPr>
      <a:lvl3pPr marL="0" marR="0" indent="914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3pPr>
      <a:lvl4pPr marL="0" marR="0" indent="1371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4pPr>
      <a:lvl5pPr marL="0" marR="0" indent="18288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5pPr>
      <a:lvl6pPr marL="0" marR="0" indent="22860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6pPr>
      <a:lvl7pPr marL="0" marR="0" indent="2743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7pPr>
      <a:lvl8pPr marL="0" marR="0" indent="3200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8pPr>
      <a:lvl9pPr marL="0" marR="0" indent="3657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14.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75" name="Group"/>
          <p:cNvGrpSpPr/>
          <p:nvPr/>
        </p:nvGrpSpPr>
        <p:grpSpPr>
          <a:xfrm>
            <a:off x="780728" y="300520"/>
            <a:ext cx="22822544" cy="3099056"/>
            <a:chOff x="0" y="0"/>
            <a:chExt cx="22822542" cy="3099054"/>
          </a:xfrm>
        </p:grpSpPr>
        <p:sp>
          <p:nvSpPr>
            <p:cNvPr id="171" name="VISVESVARAYA TECHNOLOGICAL UNIVERSITY, BELAGAVI-590018, KARNATAKA"/>
            <p:cNvSpPr txBox="1"/>
            <p:nvPr/>
          </p:nvSpPr>
          <p:spPr>
            <a:xfrm>
              <a:off x="1770383" y="245315"/>
              <a:ext cx="19368471" cy="73177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799">
                  <a:solidFill>
                    <a:srgbClr val="204560"/>
                  </a:solidFill>
                  <a:latin typeface="Graphik"/>
                  <a:ea typeface="Graphik"/>
                  <a:cs typeface="Graphik"/>
                  <a:sym typeface="Graphik"/>
                </a:defRPr>
              </a:lvl1pPr>
            </a:lstStyle>
            <a:p>
              <a:pPr/>
              <a:r>
                <a:t>VISVESVARAYA TECHNOLOGICAL UNIVERSITY, BELAGAVI-590018, KARNATAKA</a:t>
              </a:r>
            </a:p>
          </p:txBody>
        </p:sp>
        <p:pic>
          <p:nvPicPr>
            <p:cNvPr id="172" name="vtu_logo.png" descr="vtu_logo.png"/>
            <p:cNvPicPr>
              <a:picLocks noChangeAspect="1"/>
            </p:cNvPicPr>
            <p:nvPr/>
          </p:nvPicPr>
          <p:blipFill>
            <a:blip r:embed="rId2">
              <a:extLst/>
            </a:blip>
            <a:stretch>
              <a:fillRect/>
            </a:stretch>
          </p:blipFill>
          <p:spPr>
            <a:xfrm>
              <a:off x="0" y="0"/>
              <a:ext cx="1524000" cy="1600200"/>
            </a:xfrm>
            <a:prstGeom prst="rect">
              <a:avLst/>
            </a:prstGeom>
            <a:ln w="12700" cap="flat">
              <a:noFill/>
              <a:miter lim="400000"/>
            </a:ln>
            <a:effectLst/>
          </p:spPr>
        </p:pic>
        <p:pic>
          <p:nvPicPr>
            <p:cNvPr id="173" name="BIET_logo.png" descr="BIET_logo.png"/>
            <p:cNvPicPr>
              <a:picLocks noChangeAspect="1"/>
            </p:cNvPicPr>
            <p:nvPr/>
          </p:nvPicPr>
          <p:blipFill>
            <a:blip r:embed="rId3">
              <a:extLst/>
            </a:blip>
            <a:stretch>
              <a:fillRect/>
            </a:stretch>
          </p:blipFill>
          <p:spPr>
            <a:xfrm>
              <a:off x="21385237" y="0"/>
              <a:ext cx="1437306" cy="1600200"/>
            </a:xfrm>
            <a:prstGeom prst="rect">
              <a:avLst/>
            </a:prstGeom>
            <a:ln w="12700" cap="flat">
              <a:noFill/>
              <a:miter lim="400000"/>
            </a:ln>
            <a:effectLst/>
          </p:spPr>
        </p:pic>
        <p:sp>
          <p:nvSpPr>
            <p:cNvPr id="174" name="BAPUJI INSTITUTE OF ENGINEERING AND TECHNOLOGY…"/>
            <p:cNvSpPr txBox="1"/>
            <p:nvPr/>
          </p:nvSpPr>
          <p:spPr>
            <a:xfrm>
              <a:off x="5515944" y="1173388"/>
              <a:ext cx="11877350" cy="19256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27">
                  <a:solidFill>
                    <a:srgbClr val="204560"/>
                  </a:solidFill>
                </a:defRPr>
              </a:pPr>
              <a:r>
                <a:t>BAPUJI INSTITUTE OF ENGINEERING AND TECHNOLOGY</a:t>
              </a:r>
            </a:p>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28">
                  <a:solidFill>
                    <a:srgbClr val="204560"/>
                  </a:solidFill>
                </a:defRPr>
              </a:pPr>
              <a:r>
                <a:t>DAVANAGERE-577004</a:t>
              </a:r>
            </a:p>
          </p:txBody>
        </p:sp>
      </p:grpSp>
      <p:grpSp>
        <p:nvGrpSpPr>
          <p:cNvPr id="179" name="Group"/>
          <p:cNvGrpSpPr/>
          <p:nvPr/>
        </p:nvGrpSpPr>
        <p:grpSpPr>
          <a:xfrm>
            <a:off x="3583762" y="3473480"/>
            <a:ext cx="17667040" cy="3059655"/>
            <a:chOff x="0" y="-220940"/>
            <a:chExt cx="17667039" cy="3059654"/>
          </a:xfrm>
        </p:grpSpPr>
        <p:sp>
          <p:nvSpPr>
            <p:cNvPr id="176" name="DEPARTMENT OF COMPUTER SCIENCE AND ENGINEERING…"/>
            <p:cNvSpPr txBox="1"/>
            <p:nvPr/>
          </p:nvSpPr>
          <p:spPr>
            <a:xfrm>
              <a:off x="3092423" y="-220941"/>
              <a:ext cx="11796891" cy="1912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28">
                  <a:solidFill>
                    <a:srgbClr val="204560"/>
                  </a:solidFill>
                </a:defRPr>
              </a:pPr>
              <a:r>
                <a:t>DEPARTMENT OF COMPUTER SCIENCE AND ENGINEERING</a:t>
              </a:r>
            </a:p>
            <a:p>
              <a:pPr algn="ct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28">
                  <a:solidFill>
                    <a:srgbClr val="204560"/>
                  </a:solidFill>
                </a:defRPr>
              </a:pPr>
              <a:r>
                <a:t>MAJOR PROJECT PHASE II (BCS786) </a:t>
              </a:r>
            </a:p>
          </p:txBody>
        </p:sp>
        <p:sp>
          <p:nvSpPr>
            <p:cNvPr id="177" name="on"/>
            <p:cNvSpPr txBox="1"/>
            <p:nvPr/>
          </p:nvSpPr>
          <p:spPr>
            <a:xfrm>
              <a:off x="8157830" y="1607677"/>
              <a:ext cx="625439" cy="6814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28">
                  <a:solidFill>
                    <a:srgbClr val="204560"/>
                  </a:solidFill>
                </a:defRPr>
              </a:lvl1pPr>
            </a:lstStyle>
            <a:p>
              <a:pPr/>
              <a:r>
                <a:t>on</a:t>
              </a:r>
            </a:p>
          </p:txBody>
        </p:sp>
        <p:sp>
          <p:nvSpPr>
            <p:cNvPr id="178" name="“Metaheuristic Deep Learning Models for Leukemia Classification and Grading”"/>
            <p:cNvSpPr txBox="1"/>
            <p:nvPr/>
          </p:nvSpPr>
          <p:spPr>
            <a:xfrm>
              <a:off x="0" y="2107005"/>
              <a:ext cx="17667040" cy="731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51">
                  <a:solidFill>
                    <a:srgbClr val="204560"/>
                  </a:solidFill>
                </a:defRPr>
              </a:lvl1pPr>
            </a:lstStyle>
            <a:p>
              <a:pPr/>
              <a:r>
                <a:t>“Metaheuristic Deep Learning Models for Leukemia Classification and Grading”</a:t>
              </a:r>
            </a:p>
          </p:txBody>
        </p:sp>
      </p:grpSp>
      <p:grpSp>
        <p:nvGrpSpPr>
          <p:cNvPr id="183" name="Group"/>
          <p:cNvGrpSpPr/>
          <p:nvPr/>
        </p:nvGrpSpPr>
        <p:grpSpPr>
          <a:xfrm>
            <a:off x="760898" y="7383800"/>
            <a:ext cx="21428017" cy="2334486"/>
            <a:chOff x="-600205" y="-494142"/>
            <a:chExt cx="21428015" cy="2334485"/>
          </a:xfrm>
        </p:grpSpPr>
        <p:sp>
          <p:nvSpPr>
            <p:cNvPr id="180" name="Under the Guidance of: Dr. Pradeep N Professor (Dept. of CS&amp;E)"/>
            <p:cNvSpPr txBox="1"/>
            <p:nvPr/>
          </p:nvSpPr>
          <p:spPr>
            <a:xfrm>
              <a:off x="-600206" y="-28024"/>
              <a:ext cx="4457374" cy="14962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28">
                  <a:solidFill>
                    <a:srgbClr val="204560"/>
                  </a:solidFill>
                </a:defRPr>
              </a:pPr>
              <a:r>
                <a:t>Under the Guidance of:</a:t>
              </a:r>
              <a:br>
                <a:rPr sz="2728"/>
              </a:br>
              <a:r>
                <a:rPr sz="2728"/>
                <a:t>Dr. Pradeep N</a:t>
              </a:r>
              <a:br/>
              <a:r>
                <a:rPr sz="1828"/>
                <a:t>Professor (Dept. of CS&amp;E)</a:t>
              </a:r>
            </a:p>
          </p:txBody>
        </p:sp>
        <p:sp>
          <p:nvSpPr>
            <p:cNvPr id="181" name="Program Coordinator:…"/>
            <p:cNvSpPr txBox="1"/>
            <p:nvPr/>
          </p:nvSpPr>
          <p:spPr>
            <a:xfrm>
              <a:off x="8317824" y="-494143"/>
              <a:ext cx="4183934" cy="23344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defTabSz="12700">
                <a:lnSpc>
                  <a:spcPct val="1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28">
                  <a:solidFill>
                    <a:srgbClr val="204560"/>
                  </a:solidFill>
                </a:defRPr>
              </a:pPr>
              <a:r>
                <a:t>Program Coordinator:</a:t>
              </a:r>
            </a:p>
            <a:p>
              <a:pPr defTabSz="12700">
                <a:lnSpc>
                  <a:spcPct val="1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27">
                  <a:solidFill>
                    <a:srgbClr val="204560"/>
                  </a:solidFill>
                </a:defRPr>
              </a:pPr>
              <a:r>
                <a:t>Dr. Nirmala C R</a:t>
              </a:r>
            </a:p>
            <a:p>
              <a:pPr defTabSz="12700">
                <a:lnSpc>
                  <a:spcPct val="1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27">
                  <a:solidFill>
                    <a:srgbClr val="204560"/>
                  </a:solidFill>
                </a:defRPr>
              </a:pPr>
              <a:r>
                <a:t>Hod(CS&amp;E) and</a:t>
              </a:r>
            </a:p>
            <a:p>
              <a:pPr defTabSz="12700">
                <a:lnSpc>
                  <a:spcPct val="1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27">
                  <a:solidFill>
                    <a:srgbClr val="204560"/>
                  </a:solidFill>
                </a:defRPr>
              </a:pPr>
              <a:r>
                <a:t>Placement Dean</a:t>
              </a:r>
            </a:p>
          </p:txBody>
        </p:sp>
        <p:sp>
          <p:nvSpPr>
            <p:cNvPr id="182" name="Project Coordinator: Prof. Vinayaka P Assistant Professor"/>
            <p:cNvSpPr txBox="1"/>
            <p:nvPr/>
          </p:nvSpPr>
          <p:spPr>
            <a:xfrm>
              <a:off x="16962412" y="-229141"/>
              <a:ext cx="3865398" cy="14073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28">
                  <a:solidFill>
                    <a:srgbClr val="204560"/>
                  </a:solidFill>
                </a:defRPr>
              </a:pPr>
              <a:r>
                <a:t>Project Coordinator:</a:t>
              </a:r>
              <a:br/>
              <a:r>
                <a:rPr sz="2728"/>
                <a:t>Prof. Vinayaka P</a:t>
              </a:r>
              <a:br>
                <a:rPr sz="2728"/>
              </a:br>
              <a:r>
                <a:rPr sz="1828"/>
                <a:t>Assistant Professor</a:t>
              </a:r>
            </a:p>
          </p:txBody>
        </p:sp>
      </p:grpSp>
      <p:grpSp>
        <p:nvGrpSpPr>
          <p:cNvPr id="186" name="Group"/>
          <p:cNvGrpSpPr/>
          <p:nvPr/>
        </p:nvGrpSpPr>
        <p:grpSpPr>
          <a:xfrm>
            <a:off x="9160113" y="11225159"/>
            <a:ext cx="6063774" cy="720493"/>
            <a:chOff x="0" y="0"/>
            <a:chExt cx="6063772" cy="720492"/>
          </a:xfrm>
        </p:grpSpPr>
        <p:sp>
          <p:nvSpPr>
            <p:cNvPr id="184" name="Line"/>
            <p:cNvSpPr/>
            <p:nvPr/>
          </p:nvSpPr>
          <p:spPr>
            <a:xfrm>
              <a:off x="0" y="0"/>
              <a:ext cx="6063773" cy="0"/>
            </a:xfrm>
            <a:prstGeom prst="line">
              <a:avLst/>
            </a:prstGeom>
            <a:noFill/>
            <a:ln w="101600" cap="flat">
              <a:solidFill>
                <a:srgbClr val="000000"/>
              </a:solidFill>
              <a:prstDash val="solid"/>
              <a:miter lim="400000"/>
            </a:ln>
            <a:effectLst/>
          </p:spPr>
          <p:txBody>
            <a:bodyPr wrap="square" lIns="50800" tIns="50800" rIns="50800" bIns="50800" numCol="1" anchor="ctr">
              <a:noAutofit/>
            </a:bodyPr>
            <a:lstStyle/>
            <a:p>
              <a:pPr/>
            </a:p>
          </p:txBody>
        </p:sp>
        <p:sp>
          <p:nvSpPr>
            <p:cNvPr id="185" name="Shape"/>
            <p:cNvSpPr/>
            <p:nvPr/>
          </p:nvSpPr>
          <p:spPr>
            <a:xfrm>
              <a:off x="1855860" y="364806"/>
              <a:ext cx="2352053" cy="355687"/>
            </a:xfrm>
            <a:custGeom>
              <a:avLst/>
              <a:gdLst/>
              <a:ahLst/>
              <a:cxnLst>
                <a:cxn ang="0">
                  <a:pos x="wd2" y="hd2"/>
                </a:cxn>
                <a:cxn ang="5400000">
                  <a:pos x="wd2" y="hd2"/>
                </a:cxn>
                <a:cxn ang="10800000">
                  <a:pos x="wd2" y="hd2"/>
                </a:cxn>
                <a:cxn ang="16200000">
                  <a:pos x="wd2" y="hd2"/>
                </a:cxn>
              </a:cxnLst>
              <a:rect l="0" t="0" r="r" b="b"/>
              <a:pathLst>
                <a:path w="21286" h="20595" fill="norm" stroke="1" extrusionOk="0">
                  <a:moveTo>
                    <a:pt x="1606" y="0"/>
                  </a:moveTo>
                  <a:cubicBezTo>
                    <a:pt x="1195" y="0"/>
                    <a:pt x="786" y="1000"/>
                    <a:pt x="471" y="3010"/>
                  </a:cubicBezTo>
                  <a:cubicBezTo>
                    <a:pt x="-157" y="7031"/>
                    <a:pt x="-157" y="13559"/>
                    <a:pt x="471" y="17580"/>
                  </a:cubicBezTo>
                  <a:cubicBezTo>
                    <a:pt x="1100" y="21600"/>
                    <a:pt x="2117" y="21600"/>
                    <a:pt x="2745" y="17580"/>
                  </a:cubicBezTo>
                  <a:cubicBezTo>
                    <a:pt x="3373" y="13559"/>
                    <a:pt x="3373" y="7031"/>
                    <a:pt x="2745" y="3010"/>
                  </a:cubicBezTo>
                  <a:cubicBezTo>
                    <a:pt x="2431" y="1000"/>
                    <a:pt x="2018" y="0"/>
                    <a:pt x="1606" y="0"/>
                  </a:cubicBezTo>
                  <a:close/>
                  <a:moveTo>
                    <a:pt x="6125" y="0"/>
                  </a:moveTo>
                  <a:cubicBezTo>
                    <a:pt x="5713" y="0"/>
                    <a:pt x="5300" y="1000"/>
                    <a:pt x="4986" y="3010"/>
                  </a:cubicBezTo>
                  <a:cubicBezTo>
                    <a:pt x="4358" y="7031"/>
                    <a:pt x="4358" y="13559"/>
                    <a:pt x="4986" y="17580"/>
                  </a:cubicBezTo>
                  <a:cubicBezTo>
                    <a:pt x="5614" y="21600"/>
                    <a:pt x="6635" y="21600"/>
                    <a:pt x="7263" y="17580"/>
                  </a:cubicBezTo>
                  <a:cubicBezTo>
                    <a:pt x="7892" y="13559"/>
                    <a:pt x="7892" y="7031"/>
                    <a:pt x="7263" y="3010"/>
                  </a:cubicBezTo>
                  <a:cubicBezTo>
                    <a:pt x="6949" y="1000"/>
                    <a:pt x="6536" y="0"/>
                    <a:pt x="6125" y="0"/>
                  </a:cubicBezTo>
                  <a:close/>
                  <a:moveTo>
                    <a:pt x="10643" y="0"/>
                  </a:moveTo>
                  <a:cubicBezTo>
                    <a:pt x="10231" y="0"/>
                    <a:pt x="9819" y="1000"/>
                    <a:pt x="9504" y="3010"/>
                  </a:cubicBezTo>
                  <a:cubicBezTo>
                    <a:pt x="8876" y="7031"/>
                    <a:pt x="8876" y="13559"/>
                    <a:pt x="9504" y="17580"/>
                  </a:cubicBezTo>
                  <a:cubicBezTo>
                    <a:pt x="10133" y="21600"/>
                    <a:pt x="11153" y="21600"/>
                    <a:pt x="11782" y="17580"/>
                  </a:cubicBezTo>
                  <a:cubicBezTo>
                    <a:pt x="12410" y="13559"/>
                    <a:pt x="12410" y="7031"/>
                    <a:pt x="11782" y="3010"/>
                  </a:cubicBezTo>
                  <a:cubicBezTo>
                    <a:pt x="11467" y="1000"/>
                    <a:pt x="11055" y="0"/>
                    <a:pt x="10643" y="0"/>
                  </a:cubicBezTo>
                  <a:close/>
                  <a:moveTo>
                    <a:pt x="15161" y="0"/>
                  </a:moveTo>
                  <a:cubicBezTo>
                    <a:pt x="14750" y="0"/>
                    <a:pt x="14337" y="1000"/>
                    <a:pt x="14023" y="3010"/>
                  </a:cubicBezTo>
                  <a:cubicBezTo>
                    <a:pt x="13394" y="7031"/>
                    <a:pt x="13394" y="13559"/>
                    <a:pt x="14023" y="17580"/>
                  </a:cubicBezTo>
                  <a:cubicBezTo>
                    <a:pt x="14651" y="21600"/>
                    <a:pt x="15668" y="21600"/>
                    <a:pt x="16296" y="17580"/>
                  </a:cubicBezTo>
                  <a:cubicBezTo>
                    <a:pt x="16925" y="13559"/>
                    <a:pt x="16925" y="7031"/>
                    <a:pt x="16296" y="3010"/>
                  </a:cubicBezTo>
                  <a:cubicBezTo>
                    <a:pt x="15982" y="1000"/>
                    <a:pt x="15573" y="0"/>
                    <a:pt x="15161" y="0"/>
                  </a:cubicBezTo>
                  <a:close/>
                  <a:moveTo>
                    <a:pt x="19676" y="0"/>
                  </a:moveTo>
                  <a:cubicBezTo>
                    <a:pt x="19264" y="0"/>
                    <a:pt x="18855" y="1000"/>
                    <a:pt x="18541" y="3010"/>
                  </a:cubicBezTo>
                  <a:cubicBezTo>
                    <a:pt x="17913" y="7031"/>
                    <a:pt x="17913" y="13559"/>
                    <a:pt x="18541" y="17580"/>
                  </a:cubicBezTo>
                  <a:cubicBezTo>
                    <a:pt x="19169" y="21600"/>
                    <a:pt x="20186" y="21600"/>
                    <a:pt x="20815" y="17580"/>
                  </a:cubicBezTo>
                  <a:cubicBezTo>
                    <a:pt x="21443" y="13559"/>
                    <a:pt x="21443" y="7031"/>
                    <a:pt x="20815" y="3010"/>
                  </a:cubicBezTo>
                  <a:cubicBezTo>
                    <a:pt x="20500" y="1000"/>
                    <a:pt x="20088" y="0"/>
                    <a:pt x="19676" y="0"/>
                  </a:cubicBezTo>
                  <a:close/>
                </a:path>
              </a:pathLst>
            </a:custGeom>
            <a:solidFill>
              <a:schemeClr val="accent1">
                <a:satOff val="-9155"/>
                <a:lumOff val="-32673"/>
              </a:scheme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defRPr>
              </a:pPr>
            </a:p>
          </p:txBody>
        </p:sp>
      </p:gr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Team Members"/>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8899">
                <a:solidFill>
                  <a:srgbClr val="204560"/>
                </a:solidFill>
                <a:latin typeface="Graphik Light"/>
                <a:ea typeface="Graphik Light"/>
                <a:cs typeface="Graphik Light"/>
                <a:sym typeface="Graphik Light"/>
              </a:defRPr>
            </a:lvl1pPr>
          </a:lstStyle>
          <a:p>
            <a:pPr/>
            <a:r>
              <a:t>Team Members</a:t>
            </a:r>
          </a:p>
        </p:txBody>
      </p:sp>
      <p:sp>
        <p:nvSpPr>
          <p:cNvPr id="189" name="Adarsh A Inamdar    4BD22CS002…"/>
          <p:cNvSpPr txBox="1"/>
          <p:nvPr>
            <p:ph type="body" idx="1"/>
          </p:nvPr>
        </p:nvSpPr>
        <p:spPr>
          <a:prstGeom prst="rect">
            <a:avLst/>
          </a:prstGeom>
        </p:spPr>
        <p:txBody>
          <a:bodyPr/>
          <a:lstStyle/>
          <a:p>
            <a:pPr/>
            <a:r>
              <a:t>Adarsh A Inamdar    4BD22CS002</a:t>
            </a:r>
          </a:p>
          <a:p>
            <a:pPr/>
            <a:r>
              <a:t>Anmol Kundap         4BD22CS017</a:t>
            </a:r>
          </a:p>
          <a:p>
            <a:pPr/>
            <a:r>
              <a:t>Amogh K Baliga       4BD22CS008</a:t>
            </a:r>
          </a:p>
          <a:p>
            <a:pPr/>
            <a:r>
              <a:t>Tanushree M Pujar   4BD22CS176</a:t>
            </a:r>
          </a:p>
        </p:txBody>
      </p:sp>
      <p:grpSp>
        <p:nvGrpSpPr>
          <p:cNvPr id="192" name="Group"/>
          <p:cNvGrpSpPr/>
          <p:nvPr/>
        </p:nvGrpSpPr>
        <p:grpSpPr>
          <a:xfrm>
            <a:off x="9160113" y="10809583"/>
            <a:ext cx="6063774" cy="720493"/>
            <a:chOff x="0" y="0"/>
            <a:chExt cx="6063772" cy="720492"/>
          </a:xfrm>
        </p:grpSpPr>
        <p:sp>
          <p:nvSpPr>
            <p:cNvPr id="190" name="Line"/>
            <p:cNvSpPr/>
            <p:nvPr/>
          </p:nvSpPr>
          <p:spPr>
            <a:xfrm>
              <a:off x="0" y="0"/>
              <a:ext cx="6063773" cy="0"/>
            </a:xfrm>
            <a:prstGeom prst="line">
              <a:avLst/>
            </a:prstGeom>
            <a:noFill/>
            <a:ln w="101600" cap="flat">
              <a:solidFill>
                <a:srgbClr val="000000"/>
              </a:solidFill>
              <a:prstDash val="solid"/>
              <a:miter lim="400000"/>
            </a:ln>
            <a:effectLst/>
          </p:spPr>
          <p:txBody>
            <a:bodyPr wrap="square" lIns="50800" tIns="50800" rIns="50800" bIns="50800" numCol="1" anchor="ctr">
              <a:noAutofit/>
            </a:bodyPr>
            <a:lstStyle/>
            <a:p>
              <a:pPr/>
            </a:p>
          </p:txBody>
        </p:sp>
        <p:sp>
          <p:nvSpPr>
            <p:cNvPr id="191" name="Shape"/>
            <p:cNvSpPr/>
            <p:nvPr/>
          </p:nvSpPr>
          <p:spPr>
            <a:xfrm>
              <a:off x="1855860" y="364806"/>
              <a:ext cx="2352053" cy="355687"/>
            </a:xfrm>
            <a:custGeom>
              <a:avLst/>
              <a:gdLst/>
              <a:ahLst/>
              <a:cxnLst>
                <a:cxn ang="0">
                  <a:pos x="wd2" y="hd2"/>
                </a:cxn>
                <a:cxn ang="5400000">
                  <a:pos x="wd2" y="hd2"/>
                </a:cxn>
                <a:cxn ang="10800000">
                  <a:pos x="wd2" y="hd2"/>
                </a:cxn>
                <a:cxn ang="16200000">
                  <a:pos x="wd2" y="hd2"/>
                </a:cxn>
              </a:cxnLst>
              <a:rect l="0" t="0" r="r" b="b"/>
              <a:pathLst>
                <a:path w="21286" h="20595" fill="norm" stroke="1" extrusionOk="0">
                  <a:moveTo>
                    <a:pt x="1606" y="0"/>
                  </a:moveTo>
                  <a:cubicBezTo>
                    <a:pt x="1195" y="0"/>
                    <a:pt x="786" y="1000"/>
                    <a:pt x="471" y="3010"/>
                  </a:cubicBezTo>
                  <a:cubicBezTo>
                    <a:pt x="-157" y="7031"/>
                    <a:pt x="-157" y="13559"/>
                    <a:pt x="471" y="17580"/>
                  </a:cubicBezTo>
                  <a:cubicBezTo>
                    <a:pt x="1100" y="21600"/>
                    <a:pt x="2117" y="21600"/>
                    <a:pt x="2745" y="17580"/>
                  </a:cubicBezTo>
                  <a:cubicBezTo>
                    <a:pt x="3373" y="13559"/>
                    <a:pt x="3373" y="7031"/>
                    <a:pt x="2745" y="3010"/>
                  </a:cubicBezTo>
                  <a:cubicBezTo>
                    <a:pt x="2431" y="1000"/>
                    <a:pt x="2018" y="0"/>
                    <a:pt x="1606" y="0"/>
                  </a:cubicBezTo>
                  <a:close/>
                  <a:moveTo>
                    <a:pt x="6125" y="0"/>
                  </a:moveTo>
                  <a:cubicBezTo>
                    <a:pt x="5713" y="0"/>
                    <a:pt x="5300" y="1000"/>
                    <a:pt x="4986" y="3010"/>
                  </a:cubicBezTo>
                  <a:cubicBezTo>
                    <a:pt x="4358" y="7031"/>
                    <a:pt x="4358" y="13559"/>
                    <a:pt x="4986" y="17580"/>
                  </a:cubicBezTo>
                  <a:cubicBezTo>
                    <a:pt x="5614" y="21600"/>
                    <a:pt x="6635" y="21600"/>
                    <a:pt x="7263" y="17580"/>
                  </a:cubicBezTo>
                  <a:cubicBezTo>
                    <a:pt x="7892" y="13559"/>
                    <a:pt x="7892" y="7031"/>
                    <a:pt x="7263" y="3010"/>
                  </a:cubicBezTo>
                  <a:cubicBezTo>
                    <a:pt x="6949" y="1000"/>
                    <a:pt x="6536" y="0"/>
                    <a:pt x="6125" y="0"/>
                  </a:cubicBezTo>
                  <a:close/>
                  <a:moveTo>
                    <a:pt x="10643" y="0"/>
                  </a:moveTo>
                  <a:cubicBezTo>
                    <a:pt x="10231" y="0"/>
                    <a:pt x="9819" y="1000"/>
                    <a:pt x="9504" y="3010"/>
                  </a:cubicBezTo>
                  <a:cubicBezTo>
                    <a:pt x="8876" y="7031"/>
                    <a:pt x="8876" y="13559"/>
                    <a:pt x="9504" y="17580"/>
                  </a:cubicBezTo>
                  <a:cubicBezTo>
                    <a:pt x="10133" y="21600"/>
                    <a:pt x="11153" y="21600"/>
                    <a:pt x="11782" y="17580"/>
                  </a:cubicBezTo>
                  <a:cubicBezTo>
                    <a:pt x="12410" y="13559"/>
                    <a:pt x="12410" y="7031"/>
                    <a:pt x="11782" y="3010"/>
                  </a:cubicBezTo>
                  <a:cubicBezTo>
                    <a:pt x="11467" y="1000"/>
                    <a:pt x="11055" y="0"/>
                    <a:pt x="10643" y="0"/>
                  </a:cubicBezTo>
                  <a:close/>
                  <a:moveTo>
                    <a:pt x="15161" y="0"/>
                  </a:moveTo>
                  <a:cubicBezTo>
                    <a:pt x="14750" y="0"/>
                    <a:pt x="14337" y="1000"/>
                    <a:pt x="14023" y="3010"/>
                  </a:cubicBezTo>
                  <a:cubicBezTo>
                    <a:pt x="13394" y="7031"/>
                    <a:pt x="13394" y="13559"/>
                    <a:pt x="14023" y="17580"/>
                  </a:cubicBezTo>
                  <a:cubicBezTo>
                    <a:pt x="14651" y="21600"/>
                    <a:pt x="15668" y="21600"/>
                    <a:pt x="16296" y="17580"/>
                  </a:cubicBezTo>
                  <a:cubicBezTo>
                    <a:pt x="16925" y="13559"/>
                    <a:pt x="16925" y="7031"/>
                    <a:pt x="16296" y="3010"/>
                  </a:cubicBezTo>
                  <a:cubicBezTo>
                    <a:pt x="15982" y="1000"/>
                    <a:pt x="15573" y="0"/>
                    <a:pt x="15161" y="0"/>
                  </a:cubicBezTo>
                  <a:close/>
                  <a:moveTo>
                    <a:pt x="19676" y="0"/>
                  </a:moveTo>
                  <a:cubicBezTo>
                    <a:pt x="19264" y="0"/>
                    <a:pt x="18855" y="1000"/>
                    <a:pt x="18541" y="3010"/>
                  </a:cubicBezTo>
                  <a:cubicBezTo>
                    <a:pt x="17913" y="7031"/>
                    <a:pt x="17913" y="13559"/>
                    <a:pt x="18541" y="17580"/>
                  </a:cubicBezTo>
                  <a:cubicBezTo>
                    <a:pt x="19169" y="21600"/>
                    <a:pt x="20186" y="21600"/>
                    <a:pt x="20815" y="17580"/>
                  </a:cubicBezTo>
                  <a:cubicBezTo>
                    <a:pt x="21443" y="13559"/>
                    <a:pt x="21443" y="7031"/>
                    <a:pt x="20815" y="3010"/>
                  </a:cubicBezTo>
                  <a:cubicBezTo>
                    <a:pt x="20500" y="1000"/>
                    <a:pt x="20088" y="0"/>
                    <a:pt x="19676" y="0"/>
                  </a:cubicBezTo>
                  <a:close/>
                </a:path>
              </a:pathLst>
            </a:custGeom>
            <a:solidFill>
              <a:schemeClr val="accent1">
                <a:satOff val="-9155"/>
                <a:lumOff val="-32673"/>
              </a:scheme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defRPr>
              </a:pP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Table of contents:"/>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7199">
                <a:solidFill>
                  <a:srgbClr val="204560"/>
                </a:solidFill>
                <a:latin typeface="Graphik Light"/>
                <a:ea typeface="Graphik Light"/>
                <a:cs typeface="Graphik Light"/>
                <a:sym typeface="Graphik Light"/>
              </a:defRPr>
            </a:lvl1pPr>
          </a:lstStyle>
          <a:p>
            <a:pPr/>
            <a:r>
              <a:t>Table of contents:</a:t>
            </a:r>
          </a:p>
        </p:txBody>
      </p:sp>
      <p:sp>
        <p:nvSpPr>
          <p:cNvPr id="195" name="Introduction…"/>
          <p:cNvSpPr txBox="1"/>
          <p:nvPr>
            <p:ph type="body" idx="1"/>
          </p:nvPr>
        </p:nvSpPr>
        <p:spPr>
          <a:xfrm>
            <a:off x="1206500" y="3209567"/>
            <a:ext cx="21971000" cy="8256012"/>
          </a:xfrm>
          <a:prstGeom prst="rect">
            <a:avLst/>
          </a:prstGeom>
        </p:spPr>
        <p:txBody>
          <a:bodyPr/>
          <a:lstStyle/>
          <a:p>
            <a:pPr marL="609599" indent="-609599">
              <a:lnSpc>
                <a:spcPct val="40000"/>
              </a:lnSpc>
              <a:defRPr sz="4400">
                <a:solidFill>
                  <a:srgbClr val="204560"/>
                </a:solidFill>
              </a:defRPr>
            </a:pPr>
            <a:r>
              <a:t>Introduction</a:t>
            </a:r>
          </a:p>
          <a:p>
            <a:pPr marL="609599" indent="-609599">
              <a:lnSpc>
                <a:spcPct val="40000"/>
              </a:lnSpc>
              <a:defRPr sz="4400">
                <a:solidFill>
                  <a:srgbClr val="204560"/>
                </a:solidFill>
              </a:defRPr>
            </a:pPr>
            <a:r>
              <a:t>Literature Survey</a:t>
            </a:r>
          </a:p>
          <a:p>
            <a:pPr marL="609599" indent="-609599">
              <a:lnSpc>
                <a:spcPct val="40000"/>
              </a:lnSpc>
              <a:defRPr sz="4400">
                <a:solidFill>
                  <a:srgbClr val="204560"/>
                </a:solidFill>
              </a:defRPr>
            </a:pPr>
            <a:r>
              <a:t>Problem Statements</a:t>
            </a:r>
          </a:p>
          <a:p>
            <a:pPr marL="609599" indent="-609599">
              <a:lnSpc>
                <a:spcPct val="40000"/>
              </a:lnSpc>
              <a:defRPr sz="4400">
                <a:solidFill>
                  <a:srgbClr val="204560"/>
                </a:solidFill>
              </a:defRPr>
            </a:pPr>
            <a:r>
              <a:t>Objectives</a:t>
            </a:r>
          </a:p>
          <a:p>
            <a:pPr marL="609599" indent="-609599">
              <a:lnSpc>
                <a:spcPct val="40000"/>
              </a:lnSpc>
              <a:defRPr sz="4400">
                <a:solidFill>
                  <a:srgbClr val="204560"/>
                </a:solidFill>
              </a:defRPr>
            </a:pPr>
            <a:r>
              <a:t>Methodology</a:t>
            </a:r>
          </a:p>
          <a:p>
            <a:pPr marL="609599" indent="-609599">
              <a:lnSpc>
                <a:spcPct val="40000"/>
              </a:lnSpc>
              <a:defRPr sz="4400">
                <a:solidFill>
                  <a:srgbClr val="204560"/>
                </a:solidFill>
              </a:defRPr>
            </a:pPr>
            <a:r>
              <a:t>Screenshots</a:t>
            </a:r>
          </a:p>
          <a:p>
            <a:pPr marL="609599" indent="-609599">
              <a:lnSpc>
                <a:spcPct val="40000"/>
              </a:lnSpc>
              <a:defRPr sz="4400">
                <a:solidFill>
                  <a:srgbClr val="204560"/>
                </a:solidFill>
              </a:defRPr>
            </a:pPr>
            <a:r>
              <a:t>Future Scope</a:t>
            </a:r>
          </a:p>
          <a:p>
            <a:pPr marL="609599" indent="-609599">
              <a:lnSpc>
                <a:spcPct val="40000"/>
              </a:lnSpc>
              <a:defRPr sz="4400">
                <a:solidFill>
                  <a:srgbClr val="204560"/>
                </a:solidFill>
              </a:defRPr>
            </a:pPr>
            <a:r>
              <a:t>Conclusion</a:t>
            </a:r>
          </a:p>
          <a:p>
            <a:pPr marL="609599" indent="-609599">
              <a:lnSpc>
                <a:spcPct val="40000"/>
              </a:lnSpc>
              <a:defRPr sz="4400">
                <a:solidFill>
                  <a:srgbClr val="204560"/>
                </a:solidFill>
              </a:defRPr>
            </a:pPr>
            <a:r>
              <a:t>References</a:t>
            </a:r>
          </a:p>
        </p:txBody>
      </p:sp>
      <p:grpSp>
        <p:nvGrpSpPr>
          <p:cNvPr id="198" name="Group"/>
          <p:cNvGrpSpPr/>
          <p:nvPr/>
        </p:nvGrpSpPr>
        <p:grpSpPr>
          <a:xfrm>
            <a:off x="9160113" y="10809583"/>
            <a:ext cx="6063774" cy="720493"/>
            <a:chOff x="0" y="0"/>
            <a:chExt cx="6063772" cy="720492"/>
          </a:xfrm>
        </p:grpSpPr>
        <p:sp>
          <p:nvSpPr>
            <p:cNvPr id="196" name="Line"/>
            <p:cNvSpPr/>
            <p:nvPr/>
          </p:nvSpPr>
          <p:spPr>
            <a:xfrm>
              <a:off x="0" y="0"/>
              <a:ext cx="6063773" cy="0"/>
            </a:xfrm>
            <a:prstGeom prst="line">
              <a:avLst/>
            </a:prstGeom>
            <a:noFill/>
            <a:ln w="101600" cap="flat">
              <a:solidFill>
                <a:srgbClr val="000000"/>
              </a:solidFill>
              <a:prstDash val="solid"/>
              <a:miter lim="400000"/>
            </a:ln>
            <a:effectLst/>
          </p:spPr>
          <p:txBody>
            <a:bodyPr wrap="square" lIns="50800" tIns="50800" rIns="50800" bIns="50800" numCol="1" anchor="ctr">
              <a:noAutofit/>
            </a:bodyPr>
            <a:lstStyle/>
            <a:p>
              <a:pPr/>
            </a:p>
          </p:txBody>
        </p:sp>
        <p:sp>
          <p:nvSpPr>
            <p:cNvPr id="197" name="Shape"/>
            <p:cNvSpPr/>
            <p:nvPr/>
          </p:nvSpPr>
          <p:spPr>
            <a:xfrm>
              <a:off x="1855860" y="364806"/>
              <a:ext cx="2352053" cy="355687"/>
            </a:xfrm>
            <a:custGeom>
              <a:avLst/>
              <a:gdLst/>
              <a:ahLst/>
              <a:cxnLst>
                <a:cxn ang="0">
                  <a:pos x="wd2" y="hd2"/>
                </a:cxn>
                <a:cxn ang="5400000">
                  <a:pos x="wd2" y="hd2"/>
                </a:cxn>
                <a:cxn ang="10800000">
                  <a:pos x="wd2" y="hd2"/>
                </a:cxn>
                <a:cxn ang="16200000">
                  <a:pos x="wd2" y="hd2"/>
                </a:cxn>
              </a:cxnLst>
              <a:rect l="0" t="0" r="r" b="b"/>
              <a:pathLst>
                <a:path w="21286" h="20595" fill="norm" stroke="1" extrusionOk="0">
                  <a:moveTo>
                    <a:pt x="1606" y="0"/>
                  </a:moveTo>
                  <a:cubicBezTo>
                    <a:pt x="1195" y="0"/>
                    <a:pt x="786" y="1000"/>
                    <a:pt x="471" y="3010"/>
                  </a:cubicBezTo>
                  <a:cubicBezTo>
                    <a:pt x="-157" y="7031"/>
                    <a:pt x="-157" y="13559"/>
                    <a:pt x="471" y="17580"/>
                  </a:cubicBezTo>
                  <a:cubicBezTo>
                    <a:pt x="1100" y="21600"/>
                    <a:pt x="2117" y="21600"/>
                    <a:pt x="2745" y="17580"/>
                  </a:cubicBezTo>
                  <a:cubicBezTo>
                    <a:pt x="3373" y="13559"/>
                    <a:pt x="3373" y="7031"/>
                    <a:pt x="2745" y="3010"/>
                  </a:cubicBezTo>
                  <a:cubicBezTo>
                    <a:pt x="2431" y="1000"/>
                    <a:pt x="2018" y="0"/>
                    <a:pt x="1606" y="0"/>
                  </a:cubicBezTo>
                  <a:close/>
                  <a:moveTo>
                    <a:pt x="6125" y="0"/>
                  </a:moveTo>
                  <a:cubicBezTo>
                    <a:pt x="5713" y="0"/>
                    <a:pt x="5300" y="1000"/>
                    <a:pt x="4986" y="3010"/>
                  </a:cubicBezTo>
                  <a:cubicBezTo>
                    <a:pt x="4358" y="7031"/>
                    <a:pt x="4358" y="13559"/>
                    <a:pt x="4986" y="17580"/>
                  </a:cubicBezTo>
                  <a:cubicBezTo>
                    <a:pt x="5614" y="21600"/>
                    <a:pt x="6635" y="21600"/>
                    <a:pt x="7263" y="17580"/>
                  </a:cubicBezTo>
                  <a:cubicBezTo>
                    <a:pt x="7892" y="13559"/>
                    <a:pt x="7892" y="7031"/>
                    <a:pt x="7263" y="3010"/>
                  </a:cubicBezTo>
                  <a:cubicBezTo>
                    <a:pt x="6949" y="1000"/>
                    <a:pt x="6536" y="0"/>
                    <a:pt x="6125" y="0"/>
                  </a:cubicBezTo>
                  <a:close/>
                  <a:moveTo>
                    <a:pt x="10643" y="0"/>
                  </a:moveTo>
                  <a:cubicBezTo>
                    <a:pt x="10231" y="0"/>
                    <a:pt x="9819" y="1000"/>
                    <a:pt x="9504" y="3010"/>
                  </a:cubicBezTo>
                  <a:cubicBezTo>
                    <a:pt x="8876" y="7031"/>
                    <a:pt x="8876" y="13559"/>
                    <a:pt x="9504" y="17580"/>
                  </a:cubicBezTo>
                  <a:cubicBezTo>
                    <a:pt x="10133" y="21600"/>
                    <a:pt x="11153" y="21600"/>
                    <a:pt x="11782" y="17580"/>
                  </a:cubicBezTo>
                  <a:cubicBezTo>
                    <a:pt x="12410" y="13559"/>
                    <a:pt x="12410" y="7031"/>
                    <a:pt x="11782" y="3010"/>
                  </a:cubicBezTo>
                  <a:cubicBezTo>
                    <a:pt x="11467" y="1000"/>
                    <a:pt x="11055" y="0"/>
                    <a:pt x="10643" y="0"/>
                  </a:cubicBezTo>
                  <a:close/>
                  <a:moveTo>
                    <a:pt x="15161" y="0"/>
                  </a:moveTo>
                  <a:cubicBezTo>
                    <a:pt x="14750" y="0"/>
                    <a:pt x="14337" y="1000"/>
                    <a:pt x="14023" y="3010"/>
                  </a:cubicBezTo>
                  <a:cubicBezTo>
                    <a:pt x="13394" y="7031"/>
                    <a:pt x="13394" y="13559"/>
                    <a:pt x="14023" y="17580"/>
                  </a:cubicBezTo>
                  <a:cubicBezTo>
                    <a:pt x="14651" y="21600"/>
                    <a:pt x="15668" y="21600"/>
                    <a:pt x="16296" y="17580"/>
                  </a:cubicBezTo>
                  <a:cubicBezTo>
                    <a:pt x="16925" y="13559"/>
                    <a:pt x="16925" y="7031"/>
                    <a:pt x="16296" y="3010"/>
                  </a:cubicBezTo>
                  <a:cubicBezTo>
                    <a:pt x="15982" y="1000"/>
                    <a:pt x="15573" y="0"/>
                    <a:pt x="15161" y="0"/>
                  </a:cubicBezTo>
                  <a:close/>
                  <a:moveTo>
                    <a:pt x="19676" y="0"/>
                  </a:moveTo>
                  <a:cubicBezTo>
                    <a:pt x="19264" y="0"/>
                    <a:pt x="18855" y="1000"/>
                    <a:pt x="18541" y="3010"/>
                  </a:cubicBezTo>
                  <a:cubicBezTo>
                    <a:pt x="17913" y="7031"/>
                    <a:pt x="17913" y="13559"/>
                    <a:pt x="18541" y="17580"/>
                  </a:cubicBezTo>
                  <a:cubicBezTo>
                    <a:pt x="19169" y="21600"/>
                    <a:pt x="20186" y="21600"/>
                    <a:pt x="20815" y="17580"/>
                  </a:cubicBezTo>
                  <a:cubicBezTo>
                    <a:pt x="21443" y="13559"/>
                    <a:pt x="21443" y="7031"/>
                    <a:pt x="20815" y="3010"/>
                  </a:cubicBezTo>
                  <a:cubicBezTo>
                    <a:pt x="20500" y="1000"/>
                    <a:pt x="20088" y="0"/>
                    <a:pt x="19676" y="0"/>
                  </a:cubicBezTo>
                  <a:close/>
                </a:path>
              </a:pathLst>
            </a:custGeom>
            <a:solidFill>
              <a:schemeClr val="accent1">
                <a:satOff val="-9155"/>
                <a:lumOff val="-32673"/>
              </a:scheme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defRPr>
              </a:pPr>
            </a:p>
          </p:txBody>
        </p:sp>
      </p:gr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Introduction"/>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8299">
                <a:solidFill>
                  <a:srgbClr val="204560"/>
                </a:solidFill>
                <a:latin typeface="Graphik Light"/>
                <a:ea typeface="Graphik Light"/>
                <a:cs typeface="Graphik Light"/>
                <a:sym typeface="Graphik Light"/>
              </a:defRPr>
            </a:lvl1pPr>
          </a:lstStyle>
          <a:p>
            <a:pPr/>
            <a:r>
              <a:t>Introduction</a:t>
            </a:r>
          </a:p>
        </p:txBody>
      </p:sp>
      <p:grpSp>
        <p:nvGrpSpPr>
          <p:cNvPr id="203" name="Group"/>
          <p:cNvGrpSpPr/>
          <p:nvPr/>
        </p:nvGrpSpPr>
        <p:grpSpPr>
          <a:xfrm>
            <a:off x="9160113" y="11546284"/>
            <a:ext cx="6063774" cy="720493"/>
            <a:chOff x="0" y="0"/>
            <a:chExt cx="6063772" cy="720492"/>
          </a:xfrm>
        </p:grpSpPr>
        <p:sp>
          <p:nvSpPr>
            <p:cNvPr id="201" name="Line"/>
            <p:cNvSpPr/>
            <p:nvPr/>
          </p:nvSpPr>
          <p:spPr>
            <a:xfrm>
              <a:off x="0" y="0"/>
              <a:ext cx="6063773" cy="0"/>
            </a:xfrm>
            <a:prstGeom prst="line">
              <a:avLst/>
            </a:prstGeom>
            <a:noFill/>
            <a:ln w="101600" cap="flat">
              <a:solidFill>
                <a:srgbClr val="000000"/>
              </a:solidFill>
              <a:prstDash val="solid"/>
              <a:miter lim="400000"/>
            </a:ln>
            <a:effectLst/>
          </p:spPr>
          <p:txBody>
            <a:bodyPr wrap="square" lIns="50800" tIns="50800" rIns="50800" bIns="50800" numCol="1" anchor="ctr">
              <a:noAutofit/>
            </a:bodyPr>
            <a:lstStyle/>
            <a:p>
              <a:pPr/>
            </a:p>
          </p:txBody>
        </p:sp>
        <p:sp>
          <p:nvSpPr>
            <p:cNvPr id="202" name="Shape"/>
            <p:cNvSpPr/>
            <p:nvPr/>
          </p:nvSpPr>
          <p:spPr>
            <a:xfrm>
              <a:off x="1855860" y="364806"/>
              <a:ext cx="2352053" cy="355687"/>
            </a:xfrm>
            <a:custGeom>
              <a:avLst/>
              <a:gdLst/>
              <a:ahLst/>
              <a:cxnLst>
                <a:cxn ang="0">
                  <a:pos x="wd2" y="hd2"/>
                </a:cxn>
                <a:cxn ang="5400000">
                  <a:pos x="wd2" y="hd2"/>
                </a:cxn>
                <a:cxn ang="10800000">
                  <a:pos x="wd2" y="hd2"/>
                </a:cxn>
                <a:cxn ang="16200000">
                  <a:pos x="wd2" y="hd2"/>
                </a:cxn>
              </a:cxnLst>
              <a:rect l="0" t="0" r="r" b="b"/>
              <a:pathLst>
                <a:path w="21286" h="20595" fill="norm" stroke="1" extrusionOk="0">
                  <a:moveTo>
                    <a:pt x="1606" y="0"/>
                  </a:moveTo>
                  <a:cubicBezTo>
                    <a:pt x="1195" y="0"/>
                    <a:pt x="786" y="1000"/>
                    <a:pt x="471" y="3010"/>
                  </a:cubicBezTo>
                  <a:cubicBezTo>
                    <a:pt x="-157" y="7031"/>
                    <a:pt x="-157" y="13559"/>
                    <a:pt x="471" y="17580"/>
                  </a:cubicBezTo>
                  <a:cubicBezTo>
                    <a:pt x="1100" y="21600"/>
                    <a:pt x="2117" y="21600"/>
                    <a:pt x="2745" y="17580"/>
                  </a:cubicBezTo>
                  <a:cubicBezTo>
                    <a:pt x="3373" y="13559"/>
                    <a:pt x="3373" y="7031"/>
                    <a:pt x="2745" y="3010"/>
                  </a:cubicBezTo>
                  <a:cubicBezTo>
                    <a:pt x="2431" y="1000"/>
                    <a:pt x="2018" y="0"/>
                    <a:pt x="1606" y="0"/>
                  </a:cubicBezTo>
                  <a:close/>
                  <a:moveTo>
                    <a:pt x="6125" y="0"/>
                  </a:moveTo>
                  <a:cubicBezTo>
                    <a:pt x="5713" y="0"/>
                    <a:pt x="5300" y="1000"/>
                    <a:pt x="4986" y="3010"/>
                  </a:cubicBezTo>
                  <a:cubicBezTo>
                    <a:pt x="4358" y="7031"/>
                    <a:pt x="4358" y="13559"/>
                    <a:pt x="4986" y="17580"/>
                  </a:cubicBezTo>
                  <a:cubicBezTo>
                    <a:pt x="5614" y="21600"/>
                    <a:pt x="6635" y="21600"/>
                    <a:pt x="7263" y="17580"/>
                  </a:cubicBezTo>
                  <a:cubicBezTo>
                    <a:pt x="7892" y="13559"/>
                    <a:pt x="7892" y="7031"/>
                    <a:pt x="7263" y="3010"/>
                  </a:cubicBezTo>
                  <a:cubicBezTo>
                    <a:pt x="6949" y="1000"/>
                    <a:pt x="6536" y="0"/>
                    <a:pt x="6125" y="0"/>
                  </a:cubicBezTo>
                  <a:close/>
                  <a:moveTo>
                    <a:pt x="10643" y="0"/>
                  </a:moveTo>
                  <a:cubicBezTo>
                    <a:pt x="10231" y="0"/>
                    <a:pt x="9819" y="1000"/>
                    <a:pt x="9504" y="3010"/>
                  </a:cubicBezTo>
                  <a:cubicBezTo>
                    <a:pt x="8876" y="7031"/>
                    <a:pt x="8876" y="13559"/>
                    <a:pt x="9504" y="17580"/>
                  </a:cubicBezTo>
                  <a:cubicBezTo>
                    <a:pt x="10133" y="21600"/>
                    <a:pt x="11153" y="21600"/>
                    <a:pt x="11782" y="17580"/>
                  </a:cubicBezTo>
                  <a:cubicBezTo>
                    <a:pt x="12410" y="13559"/>
                    <a:pt x="12410" y="7031"/>
                    <a:pt x="11782" y="3010"/>
                  </a:cubicBezTo>
                  <a:cubicBezTo>
                    <a:pt x="11467" y="1000"/>
                    <a:pt x="11055" y="0"/>
                    <a:pt x="10643" y="0"/>
                  </a:cubicBezTo>
                  <a:close/>
                  <a:moveTo>
                    <a:pt x="15161" y="0"/>
                  </a:moveTo>
                  <a:cubicBezTo>
                    <a:pt x="14750" y="0"/>
                    <a:pt x="14337" y="1000"/>
                    <a:pt x="14023" y="3010"/>
                  </a:cubicBezTo>
                  <a:cubicBezTo>
                    <a:pt x="13394" y="7031"/>
                    <a:pt x="13394" y="13559"/>
                    <a:pt x="14023" y="17580"/>
                  </a:cubicBezTo>
                  <a:cubicBezTo>
                    <a:pt x="14651" y="21600"/>
                    <a:pt x="15668" y="21600"/>
                    <a:pt x="16296" y="17580"/>
                  </a:cubicBezTo>
                  <a:cubicBezTo>
                    <a:pt x="16925" y="13559"/>
                    <a:pt x="16925" y="7031"/>
                    <a:pt x="16296" y="3010"/>
                  </a:cubicBezTo>
                  <a:cubicBezTo>
                    <a:pt x="15982" y="1000"/>
                    <a:pt x="15573" y="0"/>
                    <a:pt x="15161" y="0"/>
                  </a:cubicBezTo>
                  <a:close/>
                  <a:moveTo>
                    <a:pt x="19676" y="0"/>
                  </a:moveTo>
                  <a:cubicBezTo>
                    <a:pt x="19264" y="0"/>
                    <a:pt x="18855" y="1000"/>
                    <a:pt x="18541" y="3010"/>
                  </a:cubicBezTo>
                  <a:cubicBezTo>
                    <a:pt x="17913" y="7031"/>
                    <a:pt x="17913" y="13559"/>
                    <a:pt x="18541" y="17580"/>
                  </a:cubicBezTo>
                  <a:cubicBezTo>
                    <a:pt x="19169" y="21600"/>
                    <a:pt x="20186" y="21600"/>
                    <a:pt x="20815" y="17580"/>
                  </a:cubicBezTo>
                  <a:cubicBezTo>
                    <a:pt x="21443" y="13559"/>
                    <a:pt x="21443" y="7031"/>
                    <a:pt x="20815" y="3010"/>
                  </a:cubicBezTo>
                  <a:cubicBezTo>
                    <a:pt x="20500" y="1000"/>
                    <a:pt x="20088" y="0"/>
                    <a:pt x="19676" y="0"/>
                  </a:cubicBezTo>
                  <a:close/>
                </a:path>
              </a:pathLst>
            </a:custGeom>
            <a:solidFill>
              <a:schemeClr val="accent1">
                <a:satOff val="-9155"/>
                <a:lumOff val="-32673"/>
              </a:scheme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defRPr>
              </a:pPr>
            </a:p>
          </p:txBody>
        </p:sp>
      </p:grpSp>
      <p:sp>
        <p:nvSpPr>
          <p:cNvPr id="204" name="Leukemia is a blood cancer that originates in the bone marrow and disrupts normal blood cell production, leading to serious health complications. Traditional diagnosis relies on manual blood smear analysis, which is time-consuming and prone to human erro"/>
          <p:cNvSpPr txBox="1"/>
          <p:nvPr>
            <p:ph type="body" idx="1"/>
          </p:nvPr>
        </p:nvSpPr>
        <p:spPr>
          <a:prstGeom prst="rect">
            <a:avLst/>
          </a:prstGeom>
        </p:spPr>
        <p:txBody>
          <a:bodyPr/>
          <a:lstStyle>
            <a:lvl1pPr marL="0" indent="0">
              <a:buSzTx/>
              <a:buNone/>
              <a:defRPr sz="4900">
                <a:latin typeface="Times Roman"/>
                <a:ea typeface="Times Roman"/>
                <a:cs typeface="Times Roman"/>
                <a:sym typeface="Times Roman"/>
              </a:defRPr>
            </a:lvl1pPr>
          </a:lstStyle>
          <a:p>
            <a:pPr/>
            <a:r>
              <a:t>Leukemia is a blood cancer that originates in the bone marrow and disrupts normal blood cell production, leading to serious health complications. Traditional diagnosis relies on manual blood smear analysis, which is time-consuming and prone to human error. With increasing leukemia cases, automated diagnostic support systems are essential. This project proposes a PSO-optimised ResNet-18 model to automatically classify leukemia types and grade disease severity using blood smear images, improving accuracy, speed, and diagnostic consistency.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Literature Survey"/>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7291">
                <a:solidFill>
                  <a:srgbClr val="204560"/>
                </a:solidFill>
                <a:latin typeface="Graphik Light"/>
                <a:ea typeface="Graphik Light"/>
                <a:cs typeface="Graphik Light"/>
                <a:sym typeface="Graphik Light"/>
              </a:defRPr>
            </a:lvl1pPr>
          </a:lstStyle>
          <a:p>
            <a:pPr/>
            <a:r>
              <a:t>Literature Survey</a:t>
            </a:r>
          </a:p>
        </p:txBody>
      </p:sp>
      <p:pic>
        <p:nvPicPr>
          <p:cNvPr id="207" name="Screenshot 2026-01-08 at 8.19.02 AM.png" descr="Screenshot 2026-01-08 at 8.19.02 AM.png"/>
          <p:cNvPicPr>
            <a:picLocks noChangeAspect="1"/>
          </p:cNvPicPr>
          <p:nvPr/>
        </p:nvPicPr>
        <p:blipFill>
          <a:blip r:embed="rId2">
            <a:extLst/>
          </a:blip>
          <a:stretch>
            <a:fillRect/>
          </a:stretch>
        </p:blipFill>
        <p:spPr>
          <a:xfrm>
            <a:off x="3975796" y="1927225"/>
            <a:ext cx="16432221" cy="10917783"/>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9" name="Screenshot 2026-01-08 at 8.20.36 AM.png" descr="Screenshot 2026-01-08 at 8.20.36 AM.png"/>
          <p:cNvPicPr>
            <a:picLocks noChangeAspect="1"/>
          </p:cNvPicPr>
          <p:nvPr/>
        </p:nvPicPr>
        <p:blipFill>
          <a:blip r:embed="rId2">
            <a:extLst/>
          </a:blip>
          <a:stretch>
            <a:fillRect/>
          </a:stretch>
        </p:blipFill>
        <p:spPr>
          <a:xfrm>
            <a:off x="1884560" y="253801"/>
            <a:ext cx="20614938" cy="13208375"/>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Problem Statement"/>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7599">
                <a:solidFill>
                  <a:srgbClr val="204560"/>
                </a:solidFill>
                <a:latin typeface="Graphik Light"/>
                <a:ea typeface="Graphik Light"/>
                <a:cs typeface="Graphik Light"/>
                <a:sym typeface="Graphik Light"/>
              </a:defRPr>
            </a:lvl1pPr>
          </a:lstStyle>
          <a:p>
            <a:pPr/>
            <a:r>
              <a:t>Problem Statement</a:t>
            </a:r>
          </a:p>
        </p:txBody>
      </p:sp>
      <p:sp>
        <p:nvSpPr>
          <p:cNvPr id="212" name="Leukemia diagnosis requires precise classification and grading to guide effective treatment decisions. Existing automated systems predominantly focus on either classification or grading in isolation, lacking an integrated approach that addresses both sim"/>
          <p:cNvSpPr txBox="1"/>
          <p:nvPr>
            <p:ph type="body" idx="1"/>
          </p:nvPr>
        </p:nvSpPr>
        <p:spPr>
          <a:prstGeom prst="rect">
            <a:avLst/>
          </a:prstGeom>
        </p:spPr>
        <p:txBody>
          <a:bodyPr/>
          <a:lstStyle>
            <a:lvl1pPr marL="0" indent="0">
              <a:spcBef>
                <a:spcPts val="3800"/>
              </a:spcBef>
              <a:buSzTx/>
              <a:buNone/>
              <a:tabLst>
                <a:tab pos="279400" algn="l"/>
                <a:tab pos="571500" algn="l"/>
                <a:tab pos="863600" algn="l"/>
                <a:tab pos="1143000" algn="l"/>
                <a:tab pos="1435100" algn="l"/>
                <a:tab pos="1727200" algn="l"/>
                <a:tab pos="2006600" algn="l"/>
                <a:tab pos="2298700" algn="l"/>
                <a:tab pos="2590800" algn="l"/>
                <a:tab pos="2870200" algn="l"/>
                <a:tab pos="3162300" algn="l"/>
                <a:tab pos="3454400" algn="l"/>
              </a:tabLst>
              <a:defRPr sz="4131"/>
            </a:lvl1pPr>
          </a:lstStyle>
          <a:p>
            <a:pPr defTabSz="914400"/>
            <a:r>
              <a:t>Leukemia diagnosis requires precise classification and grading to guide effective treatment decisions. Existing automated systems predominantly focus on either classification or grading in isolation, lacking an integrated approach that addresses both simultaneously. Moreover, the accuracy and robustness of these systems are often compromised due to challenges such as imbalanced datasets, high-dimensional feature spaces, and limited interpretability. Current models rarely employ metaheuristic optimization techniques, which can enhance model performance by effectively selecting relevant features and tuning parameters. This gap results in suboptimal diagnostic outcomes and limited clinical applicability. Therefore, there is a critical need to develop a metaheuristic-driven framework that concurrently performs leukemia classification and grading, optimizing diagnostic accuracy and providing reliable, interpretable results suitable for clinical integration.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Project Objectives"/>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6399">
                <a:solidFill>
                  <a:srgbClr val="204560"/>
                </a:solidFill>
                <a:latin typeface="Graphik Light"/>
                <a:ea typeface="Graphik Light"/>
                <a:cs typeface="Graphik Light"/>
                <a:sym typeface="Graphik Light"/>
              </a:defRPr>
            </a:lvl1pPr>
          </a:lstStyle>
          <a:p>
            <a:pPr/>
            <a:r>
              <a:t>Project Objectives</a:t>
            </a:r>
          </a:p>
        </p:txBody>
      </p:sp>
      <p:sp>
        <p:nvSpPr>
          <p:cNvPr id="215" name="To design and implement a unified system for automated leukemia classification and grading.…"/>
          <p:cNvSpPr txBox="1"/>
          <p:nvPr>
            <p:ph type="body" idx="1"/>
          </p:nvPr>
        </p:nvSpPr>
        <p:spPr>
          <a:prstGeom prst="rect">
            <a:avLst/>
          </a:prstGeom>
        </p:spPr>
        <p:txBody>
          <a:bodyPr/>
          <a:lstStyle/>
          <a:p>
            <a:pPr/>
            <a:r>
              <a:t>To design and implement a unified system for automated leukemia classification and grading.</a:t>
            </a:r>
          </a:p>
          <a:p>
            <a:pPr/>
            <a:r>
              <a:t>To employ metaheuristic algorithms (e.g., PSO, GA) for optimal feature selection and hyper-parameter tuning of classifiers.</a:t>
            </a:r>
          </a:p>
          <a:p>
            <a:pPr/>
            <a:r>
              <a:t>To enhance accuracy, sensitivity, and reliability of classification and grading on imbalanced medical datasets. </a:t>
            </a:r>
            <a:endParaRPr sz="985">
              <a:latin typeface="Helvetica"/>
              <a:ea typeface="Helvetica"/>
              <a:cs typeface="Helvetica"/>
              <a:sym typeface="Helvetica"/>
            </a:endParaRPr>
          </a:p>
          <a:p>
            <a:pPr/>
            <a:r>
              <a:t>To integrate the classification and grading stages into a single efficient pipeline, enabling streamlined analysis and faster decision support.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Methodology"/>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8299">
                <a:solidFill>
                  <a:srgbClr val="204560"/>
                </a:solidFill>
                <a:latin typeface="Graphik Light"/>
                <a:ea typeface="Graphik Light"/>
                <a:cs typeface="Graphik Light"/>
                <a:sym typeface="Graphik Light"/>
              </a:defRPr>
            </a:lvl1pPr>
          </a:lstStyle>
          <a:p>
            <a:pPr/>
            <a:r>
              <a:t>Methodology</a:t>
            </a:r>
          </a:p>
        </p:txBody>
      </p:sp>
      <p:pic>
        <p:nvPicPr>
          <p:cNvPr id="218" name="Screenshot 2026-01-08 at 8.27.44 AM.png" descr="Screenshot 2026-01-08 at 8.27.44 AM.png"/>
          <p:cNvPicPr>
            <a:picLocks noChangeAspect="1"/>
          </p:cNvPicPr>
          <p:nvPr/>
        </p:nvPicPr>
        <p:blipFill>
          <a:blip r:embed="rId2">
            <a:extLst/>
          </a:blip>
          <a:stretch>
            <a:fillRect/>
          </a:stretch>
        </p:blipFill>
        <p:spPr>
          <a:xfrm>
            <a:off x="6851970" y="2563598"/>
            <a:ext cx="16051619" cy="10534476"/>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Methodology"/>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8299">
                <a:solidFill>
                  <a:srgbClr val="204560"/>
                </a:solidFill>
                <a:latin typeface="Graphik Light"/>
                <a:ea typeface="Graphik Light"/>
                <a:cs typeface="Graphik Light"/>
                <a:sym typeface="Graphik Light"/>
              </a:defRPr>
            </a:lvl1pPr>
          </a:lstStyle>
          <a:p>
            <a:pPr/>
            <a:r>
              <a:t>Methodology</a:t>
            </a:r>
          </a:p>
        </p:txBody>
      </p:sp>
      <p:sp>
        <p:nvSpPr>
          <p:cNvPr id="221" name="Dataset Collection: Microscopic blood smear images representing different leukemia types are used as input.…"/>
          <p:cNvSpPr txBox="1"/>
          <p:nvPr>
            <p:ph type="body" idx="1"/>
          </p:nvPr>
        </p:nvSpPr>
        <p:spPr>
          <a:xfrm>
            <a:off x="1206500" y="3096228"/>
            <a:ext cx="21971000" cy="8256012"/>
          </a:xfrm>
          <a:prstGeom prst="rect">
            <a:avLst/>
          </a:prstGeom>
        </p:spPr>
        <p:txBody>
          <a:bodyPr/>
          <a:lstStyle/>
          <a:p>
            <a:pPr marL="306324" indent="-306324" defTabSz="238252">
              <a:spcBef>
                <a:spcPts val="3100"/>
              </a:spcBef>
              <a:defRPr sz="2680"/>
            </a:pPr>
            <a:r>
              <a:rPr b="1">
                <a:latin typeface="Graphik"/>
                <a:ea typeface="Graphik"/>
                <a:cs typeface="Graphik"/>
                <a:sym typeface="Graphik"/>
              </a:rPr>
              <a:t>Dataset Collection:</a:t>
            </a:r>
            <a:r>
              <a:t> Microscopic blood smear images representing different leukemia types are used as input.</a:t>
            </a:r>
          </a:p>
          <a:p>
            <a:pPr marL="306324" indent="-306324" defTabSz="238252">
              <a:spcBef>
                <a:spcPts val="3100"/>
              </a:spcBef>
              <a:defRPr sz="2680"/>
            </a:pPr>
            <a:r>
              <a:rPr b="1">
                <a:latin typeface="Graphik"/>
                <a:ea typeface="Graphik"/>
                <a:cs typeface="Graphik"/>
                <a:sym typeface="Graphik"/>
              </a:rPr>
              <a:t>Image Preprocessing:</a:t>
            </a:r>
            <a:r>
              <a:t> Noise removal, colour normalisation, and standardisation to ensure uniform image quality and size. </a:t>
            </a:r>
          </a:p>
          <a:p>
            <a:pPr marL="306324" indent="-306324" defTabSz="238252">
              <a:spcBef>
                <a:spcPts val="3100"/>
              </a:spcBef>
              <a:defRPr sz="2680"/>
            </a:pPr>
            <a:r>
              <a:rPr b="1">
                <a:latin typeface="Graphik"/>
                <a:ea typeface="Graphik"/>
                <a:cs typeface="Graphik"/>
                <a:sym typeface="Graphik"/>
              </a:rPr>
              <a:t>Deep Learning Feature Extraction: </a:t>
            </a:r>
            <a:r>
              <a:t>CNN-based models automatically extract relevant features from preprocessed images.</a:t>
            </a:r>
          </a:p>
          <a:p>
            <a:pPr marL="306324" indent="-306324" defTabSz="238252">
              <a:spcBef>
                <a:spcPts val="3100"/>
              </a:spcBef>
              <a:defRPr sz="2680"/>
            </a:pPr>
            <a:r>
              <a:rPr b="1">
                <a:latin typeface="Graphik"/>
                <a:ea typeface="Graphik"/>
                <a:cs typeface="Graphik"/>
                <a:sym typeface="Graphik"/>
              </a:rPr>
              <a:t>Metaheuristic Optimisation (PSO): </a:t>
            </a:r>
            <a:r>
              <a:t>Particle Swarm Optimisation tunes model parameters and improves learning efficiency while reducing classification error. </a:t>
            </a:r>
          </a:p>
          <a:p>
            <a:pPr marL="306324" indent="-306324" defTabSz="238252">
              <a:spcBef>
                <a:spcPts val="3100"/>
              </a:spcBef>
              <a:defRPr sz="2680"/>
            </a:pPr>
            <a:r>
              <a:rPr b="1">
                <a:latin typeface="Graphik"/>
                <a:ea typeface="Graphik"/>
                <a:cs typeface="Graphik"/>
                <a:sym typeface="Graphik"/>
              </a:rPr>
              <a:t>Ensemble Training and Hyper-parameter Tuning: </a:t>
            </a:r>
            <a:r>
              <a:t>Multiple models are trained for robust prediction, combined with grid search to optimise learning rate, batch size, and network settings. </a:t>
            </a:r>
          </a:p>
          <a:p>
            <a:pPr marL="306324" indent="-306324" defTabSz="238252">
              <a:spcBef>
                <a:spcPts val="3100"/>
              </a:spcBef>
              <a:defRPr sz="2680"/>
            </a:pPr>
            <a:r>
              <a:rPr b="1">
                <a:latin typeface="Graphik"/>
                <a:ea typeface="Graphik"/>
                <a:cs typeface="Graphik"/>
                <a:sym typeface="Graphik"/>
              </a:rPr>
              <a:t>Model Selection:  </a:t>
            </a:r>
            <a:r>
              <a:t>The best-performing model is chosen based on minimum error and optimal performance.</a:t>
            </a:r>
          </a:p>
          <a:p>
            <a:pPr marL="306324" indent="-306324" defTabSz="238252">
              <a:spcBef>
                <a:spcPts val="3100"/>
              </a:spcBef>
              <a:defRPr sz="2680"/>
            </a:pPr>
            <a:r>
              <a:rPr b="1">
                <a:latin typeface="Graphik"/>
                <a:ea typeface="Graphik"/>
                <a:cs typeface="Graphik"/>
                <a:sym typeface="Graphik"/>
              </a:rPr>
              <a:t>Performance Evaluation: </a:t>
            </a:r>
            <a:r>
              <a:t>Evaluation on unseen test data using accuracy, precision, recall, and F1-score. </a:t>
            </a:r>
          </a:p>
          <a:p>
            <a:pPr marL="306324" indent="-306324" defTabSz="238252">
              <a:spcBef>
                <a:spcPts val="3100"/>
              </a:spcBef>
              <a:defRPr sz="2680"/>
            </a:pPr>
            <a:r>
              <a:rPr b="1">
                <a:latin typeface="Graphik"/>
                <a:ea typeface="Graphik"/>
                <a:cs typeface="Graphik"/>
                <a:sym typeface="Graphik"/>
              </a:rPr>
              <a:t>Classification and Grading: </a:t>
            </a:r>
            <a:r>
              <a:t>Leukemia classified into ALL, AML, CLL, and CML, with severity graded as Grade-1, Grade-2, and Grade-3. </a:t>
            </a:r>
          </a:p>
          <a:p>
            <a:pPr marL="306324" indent="-306324" defTabSz="238252">
              <a:spcBef>
                <a:spcPts val="3100"/>
              </a:spcBef>
              <a:defRPr sz="2680"/>
            </a:pPr>
            <a:r>
              <a:rPr b="1">
                <a:latin typeface="Graphik"/>
                <a:ea typeface="Graphik"/>
                <a:cs typeface="Graphik"/>
                <a:sym typeface="Graphik"/>
              </a:rPr>
              <a:t>Clinical Decision Support: </a:t>
            </a:r>
            <a:r>
              <a:t>The final system provides accurate and consistent leukemia diagnosis and grading for clinical use. </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FEATURE PARAMETERS FOR CLASSIFICATION"/>
          <p:cNvSpPr txBox="1"/>
          <p:nvPr>
            <p:ph type="title"/>
          </p:nvPr>
        </p:nvSpPr>
        <p:spPr>
          <a:prstGeom prst="rect">
            <a:avLst/>
          </a:prstGeom>
        </p:spPr>
        <p:txBody>
          <a:bodyPr/>
          <a:lstStyle/>
          <a:p>
            <a:pPr defTabSz="355600">
              <a:lnSpc>
                <a:spcPct val="100000"/>
              </a:lnSpc>
              <a:spcBef>
                <a:spcPts val="4700"/>
              </a:spcBef>
              <a:defRPr b="1" spc="0" sz="5866">
                <a:solidFill>
                  <a:srgbClr val="004D80"/>
                </a:solidFill>
                <a:latin typeface="Times Roman"/>
                <a:ea typeface="Times Roman"/>
                <a:cs typeface="Times Roman"/>
                <a:sym typeface="Times Roman"/>
              </a:defRPr>
            </a:pPr>
            <a:r>
              <a:t>FEATURE PARAMETERS FOR CLASSIFICATION</a:t>
            </a:r>
            <a:r>
              <a:rPr b="0" sz="1200"/>
              <a:t> </a:t>
            </a:r>
          </a:p>
        </p:txBody>
      </p:sp>
      <p:pic>
        <p:nvPicPr>
          <p:cNvPr id="224" name="pasted-movie.png" descr="pasted-movie.png"/>
          <p:cNvPicPr>
            <a:picLocks noChangeAspect="1"/>
          </p:cNvPicPr>
          <p:nvPr/>
        </p:nvPicPr>
        <p:blipFill>
          <a:blip r:embed="rId2">
            <a:extLst/>
          </a:blip>
          <a:stretch>
            <a:fillRect/>
          </a:stretch>
        </p:blipFill>
        <p:spPr>
          <a:xfrm>
            <a:off x="7340649" y="3339998"/>
            <a:ext cx="9702703" cy="8726456"/>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FEATURE PARAMETERS FOR GRADING"/>
          <p:cNvSpPr txBox="1"/>
          <p:nvPr>
            <p:ph type="title"/>
          </p:nvPr>
        </p:nvSpPr>
        <p:spPr>
          <a:prstGeom prst="rect">
            <a:avLst/>
          </a:prstGeom>
        </p:spPr>
        <p:txBody>
          <a:bodyPr/>
          <a:lstStyle>
            <a:lvl1pPr defTabSz="355600">
              <a:lnSpc>
                <a:spcPct val="100000"/>
              </a:lnSpc>
              <a:spcBef>
                <a:spcPts val="4700"/>
              </a:spcBef>
              <a:defRPr b="1" spc="0" sz="5866">
                <a:solidFill>
                  <a:srgbClr val="004D80"/>
                </a:solidFill>
                <a:latin typeface="Times Roman"/>
                <a:ea typeface="Times Roman"/>
                <a:cs typeface="Times Roman"/>
                <a:sym typeface="Times Roman"/>
              </a:defRPr>
            </a:lvl1pPr>
          </a:lstStyle>
          <a:p>
            <a:pPr/>
            <a:r>
              <a:t>FEATURE PARAMETERS FOR GRADING</a:t>
            </a:r>
          </a:p>
        </p:txBody>
      </p:sp>
      <p:pic>
        <p:nvPicPr>
          <p:cNvPr id="227" name="pasted-movie.png" descr="pasted-movie.png"/>
          <p:cNvPicPr>
            <a:picLocks noChangeAspect="1"/>
          </p:cNvPicPr>
          <p:nvPr/>
        </p:nvPicPr>
        <p:blipFill>
          <a:blip r:embed="rId2">
            <a:extLst/>
          </a:blip>
          <a:stretch>
            <a:fillRect/>
          </a:stretch>
        </p:blipFill>
        <p:spPr>
          <a:xfrm>
            <a:off x="7129859" y="2810925"/>
            <a:ext cx="10124184" cy="9663994"/>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Screenshots:"/>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6399">
                <a:solidFill>
                  <a:srgbClr val="204560"/>
                </a:solidFill>
                <a:latin typeface="Graphik Light"/>
                <a:ea typeface="Graphik Light"/>
                <a:cs typeface="Graphik Light"/>
                <a:sym typeface="Graphik Light"/>
              </a:defRPr>
            </a:lvl1pPr>
          </a:lstStyle>
          <a:p>
            <a:pPr/>
            <a:r>
              <a:t>Screenshots:</a:t>
            </a:r>
          </a:p>
        </p:txBody>
      </p:sp>
      <p:pic>
        <p:nvPicPr>
          <p:cNvPr id="230" name="Screenshot 2026-01-08 at 8.34.57 AM.png" descr="Screenshot 2026-01-08 at 8.34.57 AM.png"/>
          <p:cNvPicPr>
            <a:picLocks noChangeAspect="1"/>
          </p:cNvPicPr>
          <p:nvPr/>
        </p:nvPicPr>
        <p:blipFill>
          <a:blip r:embed="rId2">
            <a:extLst/>
          </a:blip>
          <a:stretch>
            <a:fillRect/>
          </a:stretch>
        </p:blipFill>
        <p:spPr>
          <a:xfrm>
            <a:off x="2776292" y="2651854"/>
            <a:ext cx="18831416" cy="10193773"/>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Screenshots:"/>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6399">
                <a:solidFill>
                  <a:srgbClr val="204560"/>
                </a:solidFill>
                <a:latin typeface="Graphik Light"/>
                <a:ea typeface="Graphik Light"/>
                <a:cs typeface="Graphik Light"/>
                <a:sym typeface="Graphik Light"/>
              </a:defRPr>
            </a:lvl1pPr>
          </a:lstStyle>
          <a:p>
            <a:pPr/>
            <a:r>
              <a:t>Screenshots:</a:t>
            </a:r>
          </a:p>
        </p:txBody>
      </p:sp>
      <p:pic>
        <p:nvPicPr>
          <p:cNvPr id="233" name="Screenshot 2026-01-08 at 8.35.12 AM.png" descr="Screenshot 2026-01-08 at 8.35.12 AM.png"/>
          <p:cNvPicPr>
            <a:picLocks noChangeAspect="1"/>
          </p:cNvPicPr>
          <p:nvPr/>
        </p:nvPicPr>
        <p:blipFill>
          <a:blip r:embed="rId2">
            <a:extLst/>
          </a:blip>
          <a:stretch>
            <a:fillRect/>
          </a:stretch>
        </p:blipFill>
        <p:spPr>
          <a:xfrm>
            <a:off x="2714669" y="2376941"/>
            <a:ext cx="18954662" cy="10260488"/>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Screenshots:"/>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6399">
                <a:solidFill>
                  <a:srgbClr val="204560"/>
                </a:solidFill>
                <a:latin typeface="Graphik Light"/>
                <a:ea typeface="Graphik Light"/>
                <a:cs typeface="Graphik Light"/>
                <a:sym typeface="Graphik Light"/>
              </a:defRPr>
            </a:lvl1pPr>
          </a:lstStyle>
          <a:p>
            <a:pPr/>
            <a:r>
              <a:t>Screenshots:</a:t>
            </a:r>
          </a:p>
        </p:txBody>
      </p:sp>
      <p:pic>
        <p:nvPicPr>
          <p:cNvPr id="236" name="Screenshot 2026-01-08 at 8.35.05 AM.png" descr="Screenshot 2026-01-08 at 8.35.05 AM.png"/>
          <p:cNvPicPr>
            <a:picLocks noChangeAspect="1"/>
          </p:cNvPicPr>
          <p:nvPr/>
        </p:nvPicPr>
        <p:blipFill>
          <a:blip r:embed="rId2">
            <a:extLst/>
          </a:blip>
          <a:stretch>
            <a:fillRect/>
          </a:stretch>
        </p:blipFill>
        <p:spPr>
          <a:xfrm>
            <a:off x="2795984" y="2761380"/>
            <a:ext cx="18791993" cy="10172432"/>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Future Scope..."/>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8831">
                <a:solidFill>
                  <a:srgbClr val="204560"/>
                </a:solidFill>
                <a:latin typeface="Graphik Light"/>
                <a:ea typeface="Graphik Light"/>
                <a:cs typeface="Graphik Light"/>
                <a:sym typeface="Graphik Light"/>
              </a:defRPr>
            </a:lvl1pPr>
          </a:lstStyle>
          <a:p>
            <a:pPr/>
            <a:r>
              <a:t>Future Scope...</a:t>
            </a:r>
          </a:p>
        </p:txBody>
      </p:sp>
      <p:sp>
        <p:nvSpPr>
          <p:cNvPr id="239" name="Deeper CNN Architectures: Use ResNet-34/50/101 to capture complex patterns and improve accuracy.…"/>
          <p:cNvSpPr txBox="1"/>
          <p:nvPr>
            <p:ph type="body" idx="1"/>
          </p:nvPr>
        </p:nvSpPr>
        <p:spPr>
          <a:xfrm>
            <a:off x="1206500" y="3688321"/>
            <a:ext cx="21971000" cy="8256012"/>
          </a:xfrm>
          <a:prstGeom prst="rect">
            <a:avLst/>
          </a:prstGeom>
        </p:spPr>
        <p:txBody>
          <a:bodyPr/>
          <a:lstStyle/>
          <a:p>
            <a:pPr/>
            <a:r>
              <a:rPr b="1">
                <a:latin typeface="Graphik"/>
                <a:ea typeface="Graphik"/>
                <a:cs typeface="Graphik"/>
                <a:sym typeface="Graphik"/>
              </a:rPr>
              <a:t>Deeper CNN Architectures: </a:t>
            </a:r>
            <a:r>
              <a:t>Use ResNet-34/50/101 to capture complex patterns and improve accuracy.</a:t>
            </a:r>
          </a:p>
          <a:p>
            <a:pPr/>
            <a:r>
              <a:rPr b="1">
                <a:latin typeface="Graphik"/>
                <a:ea typeface="Graphik"/>
                <a:cs typeface="Graphik"/>
                <a:sym typeface="Graphik"/>
              </a:rPr>
              <a:t>Enhanced Optimization Methods: </a:t>
            </a:r>
            <a:r>
              <a:t>Apply advanced or hybrid metaheuristic techniques to boost performance and reduce training time.</a:t>
            </a:r>
          </a:p>
          <a:p>
            <a:pPr/>
            <a:r>
              <a:rPr b="1">
                <a:latin typeface="Graphik"/>
                <a:ea typeface="Graphik"/>
                <a:cs typeface="Graphik"/>
                <a:sym typeface="Graphik"/>
              </a:rPr>
              <a:t>Multi-Modal Data Integration: </a:t>
            </a:r>
            <a:r>
              <a:t>Combine image data with clinical, lab, or genetic information for more reliable diagnosis.</a:t>
            </a:r>
          </a:p>
          <a:p>
            <a:pPr/>
            <a:r>
              <a:rPr b="1">
                <a:latin typeface="Graphik"/>
                <a:ea typeface="Graphik"/>
                <a:cs typeface="Graphik"/>
                <a:sym typeface="Graphik"/>
              </a:rPr>
              <a:t>Real-Time Clinical Deployment: </a:t>
            </a:r>
            <a:r>
              <a:t>Implement the system in hospitals for large-scale, real-time leukemia screening and decision support.</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Conclusion"/>
          <p:cNvSpPr txBox="1"/>
          <p:nvPr>
            <p:ph type="title"/>
          </p:nvPr>
        </p:nvSpPr>
        <p:spPr>
          <a:prstGeom prst="rect">
            <a:avLst/>
          </a:prstGeom>
        </p:spPr>
        <p:txBody>
          <a:bodyPr/>
          <a:lstStyle>
            <a:lvl1pPr defTabSz="12700">
              <a:lnSpc>
                <a:spcPct val="100000"/>
              </a:lnSpc>
              <a:spcBef>
                <a:spcPts val="47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8829">
                <a:solidFill>
                  <a:srgbClr val="204560"/>
                </a:solidFill>
                <a:latin typeface="Graphik Light"/>
                <a:ea typeface="Graphik Light"/>
                <a:cs typeface="Graphik Light"/>
                <a:sym typeface="Graphik Light"/>
              </a:defRPr>
            </a:lvl1pPr>
          </a:lstStyle>
          <a:p>
            <a:pPr/>
            <a:r>
              <a:t>Conclusion</a:t>
            </a:r>
          </a:p>
        </p:txBody>
      </p:sp>
      <p:sp>
        <p:nvSpPr>
          <p:cNvPr id="242" name="This project presents a PSO–ResNet-18 based framework for accurate leukemia classification and severity grading from blood smear images. Particle Swarm Optimization improves feature relevance and learning configurations, allowing ResNet-18 to focus on cr"/>
          <p:cNvSpPr txBox="1"/>
          <p:nvPr>
            <p:ph type="body" sz="half" idx="1"/>
          </p:nvPr>
        </p:nvSpPr>
        <p:spPr>
          <a:xfrm>
            <a:off x="1206500" y="5060764"/>
            <a:ext cx="21971000" cy="4921377"/>
          </a:xfrm>
          <a:prstGeom prst="rect">
            <a:avLst/>
          </a:prstGeom>
        </p:spPr>
        <p:txBody>
          <a:bodyPr/>
          <a:lstStyle>
            <a:lvl1pPr marL="0" indent="0" defTabSz="352044">
              <a:spcBef>
                <a:spcPts val="4600"/>
              </a:spcBef>
              <a:buSzTx/>
              <a:buNone/>
              <a:defRPr sz="4554">
                <a:latin typeface="Times Roman"/>
                <a:ea typeface="Times Roman"/>
                <a:cs typeface="Times Roman"/>
                <a:sym typeface="Times Roman"/>
              </a:defRPr>
            </a:lvl1pPr>
          </a:lstStyle>
          <a:p>
            <a:pPr/>
            <a:r>
              <a:t>This project presents a PSO–ResNet-18 based framework for accurate leukemia classification and severity grading from blood smear images. Particle Swarm Optimization improves feature relevance and learning configurations, allowing ResNet-18 to focus on critical cellular patterns such as morphology, nucleus structure, and texture. The residual learning capability ensures stable training and strong generalization. Overall, the system offers an efficient and reliable decision-support tool for improved leukemia diagnosis and clinical outcomes.</a:t>
            </a:r>
          </a:p>
        </p:txBody>
      </p:sp>
      <p:pic>
        <p:nvPicPr>
          <p:cNvPr id="243" name="Screenshot 2026-01-08 at 8.46.52 AM.png" descr="Screenshot 2026-01-08 at 8.46.52 AM.png"/>
          <p:cNvPicPr>
            <a:picLocks noChangeAspect="1"/>
          </p:cNvPicPr>
          <p:nvPr/>
        </p:nvPicPr>
        <p:blipFill>
          <a:blip r:embed="rId2">
            <a:extLst/>
          </a:blip>
          <a:stretch>
            <a:fillRect/>
          </a:stretch>
        </p:blipFill>
        <p:spPr>
          <a:xfrm>
            <a:off x="8394026" y="3070940"/>
            <a:ext cx="7595949" cy="1601556"/>
          </a:xfrm>
          <a:prstGeom prst="rect">
            <a:avLst/>
          </a:prstGeom>
          <a:ln w="12700">
            <a:miter lim="400000"/>
          </a:ln>
        </p:spPr>
      </p:pic>
      <p:pic>
        <p:nvPicPr>
          <p:cNvPr id="244" name="Screenshot 2026-01-08 at 8.48.43 AM.png" descr="Screenshot 2026-01-08 at 8.48.43 AM.png"/>
          <p:cNvPicPr>
            <a:picLocks noChangeAspect="1"/>
          </p:cNvPicPr>
          <p:nvPr/>
        </p:nvPicPr>
        <p:blipFill>
          <a:blip r:embed="rId3">
            <a:extLst/>
          </a:blip>
          <a:stretch>
            <a:fillRect/>
          </a:stretch>
        </p:blipFill>
        <p:spPr>
          <a:xfrm>
            <a:off x="8586372" y="10058065"/>
            <a:ext cx="7211256" cy="1520446"/>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Reference"/>
          <p:cNvSpPr txBox="1"/>
          <p:nvPr>
            <p:ph type="title"/>
          </p:nvPr>
        </p:nvSpPr>
        <p:spPr>
          <a:prstGeom prst="rect">
            <a:avLst/>
          </a:prstGeom>
        </p:spPr>
        <p:txBody>
          <a:bodyPr/>
          <a:lstStyle>
            <a:lvl1pPr defTabSz="127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pc="0" sz="7899">
                <a:solidFill>
                  <a:srgbClr val="204560"/>
                </a:solidFill>
                <a:latin typeface="Helvetica"/>
                <a:ea typeface="Helvetica"/>
                <a:cs typeface="Helvetica"/>
                <a:sym typeface="Helvetica"/>
              </a:defRPr>
            </a:lvl1pPr>
          </a:lstStyle>
          <a:p>
            <a:pPr/>
            <a:r>
              <a:t>Reference</a:t>
            </a:r>
          </a:p>
        </p:txBody>
      </p:sp>
      <p:sp>
        <p:nvSpPr>
          <p:cNvPr id="247" name="[1] R. Siegel, K. Miller, and A. Jemal, “Cancer statistics,” CA: A Cancer Journal for Clinicians, vol. 70, no. 1, pp. 7–30, 2020.…"/>
          <p:cNvSpPr txBox="1"/>
          <p:nvPr>
            <p:ph type="body" idx="1"/>
          </p:nvPr>
        </p:nvSpPr>
        <p:spPr>
          <a:xfrm>
            <a:off x="1206500" y="3077338"/>
            <a:ext cx="21971000" cy="8256012"/>
          </a:xfrm>
          <a:prstGeom prst="rect">
            <a:avLst/>
          </a:prstGeom>
        </p:spPr>
        <p:txBody>
          <a:bodyPr/>
          <a:lstStyle/>
          <a:p>
            <a:pPr marL="406908" indent="-406908" algn="just" defTabSz="316484">
              <a:spcBef>
                <a:spcPts val="4100"/>
              </a:spcBef>
              <a:defRPr sz="3559"/>
            </a:pPr>
            <a:r>
              <a:t>[1]</a:t>
            </a:r>
            <a:r>
              <a:rPr>
                <a:latin typeface="Arial"/>
                <a:ea typeface="Arial"/>
                <a:cs typeface="Arial"/>
                <a:sym typeface="Arial"/>
              </a:rPr>
              <a:t> </a:t>
            </a:r>
            <a:r>
              <a:t>R. Siegel, K. Miller, and A. Jemal, “Cancer statistics,” </a:t>
            </a:r>
            <a:r>
              <a:rPr i="1">
                <a:latin typeface="Graphik"/>
                <a:ea typeface="Graphik"/>
                <a:cs typeface="Graphik"/>
                <a:sym typeface="Graphik"/>
              </a:rPr>
              <a:t>CA: A Cancer Journal for Clinicians</a:t>
            </a:r>
            <a:r>
              <a:t>, vol. 70, no. 1, pp. 7–30, 2020. </a:t>
            </a:r>
          </a:p>
          <a:p>
            <a:pPr marL="406908" indent="-406908" algn="just" defTabSz="316484">
              <a:spcBef>
                <a:spcPts val="4100"/>
              </a:spcBef>
              <a:defRPr sz="3559"/>
            </a:pPr>
            <a:r>
              <a:t>[2]</a:t>
            </a:r>
            <a:r>
              <a:rPr>
                <a:latin typeface="Arial"/>
                <a:ea typeface="Arial"/>
                <a:cs typeface="Arial"/>
                <a:sym typeface="Arial"/>
              </a:rPr>
              <a:t> </a:t>
            </a:r>
            <a:r>
              <a:t>J. H. Jaffe et al., “World Health Organization classification of tumours of haematopoietic and lymphoid tissues,” </a:t>
            </a:r>
            <a:r>
              <a:rPr i="1">
                <a:latin typeface="Graphik"/>
                <a:ea typeface="Graphik"/>
                <a:cs typeface="Graphik"/>
                <a:sym typeface="Graphik"/>
              </a:rPr>
              <a:t>IARC Press</a:t>
            </a:r>
            <a:r>
              <a:t>, Lyon, France, 2017. </a:t>
            </a:r>
          </a:p>
          <a:p>
            <a:pPr marL="406908" indent="-406908" algn="just" defTabSz="316484">
              <a:spcBef>
                <a:spcPts val="4100"/>
              </a:spcBef>
              <a:defRPr sz="3559"/>
            </a:pPr>
            <a:r>
              <a:t>[3]</a:t>
            </a:r>
            <a:r>
              <a:rPr>
                <a:latin typeface="Arial"/>
                <a:ea typeface="Arial"/>
                <a:cs typeface="Arial"/>
                <a:sym typeface="Arial"/>
              </a:rPr>
              <a:t> </a:t>
            </a:r>
            <a:r>
              <a:t>S. H. Swerdlow et al., “The 2016 revision of the WHO classification of lymphoid neoplasms,” </a:t>
            </a:r>
            <a:r>
              <a:rPr i="1">
                <a:latin typeface="Graphik"/>
                <a:ea typeface="Graphik"/>
                <a:cs typeface="Graphik"/>
                <a:sym typeface="Graphik"/>
              </a:rPr>
              <a:t>Blood</a:t>
            </a:r>
            <a:r>
              <a:t>, vol. 127, no. 20, pp. 2375–2390, 2016. </a:t>
            </a:r>
          </a:p>
          <a:p>
            <a:pPr marL="406908" indent="-406908" algn="just" defTabSz="316484">
              <a:spcBef>
                <a:spcPts val="4100"/>
              </a:spcBef>
              <a:defRPr sz="3559"/>
            </a:pPr>
            <a:r>
              <a:t>[4]</a:t>
            </a:r>
            <a:r>
              <a:rPr>
                <a:latin typeface="Arial"/>
                <a:ea typeface="Arial"/>
                <a:cs typeface="Arial"/>
                <a:sym typeface="Arial"/>
              </a:rPr>
              <a:t> </a:t>
            </a:r>
            <a:r>
              <a:t>K. He, X. Zhang, S. Ren, and J. Sun, “Deep residual learning for image recognition,” </a:t>
            </a:r>
            <a:r>
              <a:t>in </a:t>
            </a:r>
            <a:r>
              <a:t>Proc. IEEE Conf. Computer Vision and Pattern Recognition (CVPR)</a:t>
            </a:r>
            <a:r>
              <a:t>, Las Vegas, NV, </a:t>
            </a:r>
            <a:r>
              <a:t>USA, pp. 770–778, 2016. </a:t>
            </a:r>
          </a:p>
          <a:p>
            <a:pPr marL="406908" indent="-406908" algn="just" defTabSz="316484">
              <a:spcBef>
                <a:spcPts val="4100"/>
              </a:spcBef>
              <a:defRPr sz="3559"/>
            </a:pPr>
            <a:r>
              <a:t>[5]</a:t>
            </a:r>
            <a:r>
              <a:rPr>
                <a:latin typeface="Arial"/>
                <a:ea typeface="Arial"/>
                <a:cs typeface="Arial"/>
                <a:sym typeface="Arial"/>
              </a:rPr>
              <a:t> </a:t>
            </a:r>
            <a:r>
              <a:t>E. A. Rytting and M. E. Jabbour, “Acute lymphoblastic leukemia,” </a:t>
            </a:r>
            <a:r>
              <a:rPr i="1">
                <a:latin typeface="Graphik"/>
                <a:ea typeface="Graphik"/>
                <a:cs typeface="Graphik"/>
                <a:sym typeface="Graphik"/>
              </a:rPr>
              <a:t>Lancet</a:t>
            </a:r>
            <a:r>
              <a:t>, vol. 385, no. 9963, pp. 335–347, 2015.</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6] D. Thomas and H. Kantarjian, “Acute myelogenous leukemia,” New England Journal of Medicine, vol. 353, no. 10, pp. 1059–1072, 2005.…"/>
          <p:cNvSpPr txBox="1"/>
          <p:nvPr>
            <p:ph type="body" idx="1"/>
          </p:nvPr>
        </p:nvSpPr>
        <p:spPr>
          <a:xfrm>
            <a:off x="1206500" y="1698385"/>
            <a:ext cx="21971000" cy="8256012"/>
          </a:xfrm>
          <a:prstGeom prst="rect">
            <a:avLst/>
          </a:prstGeom>
        </p:spPr>
        <p:txBody>
          <a:bodyPr/>
          <a:lstStyle/>
          <a:p>
            <a:pPr marL="411479" indent="-411479" algn="just" defTabSz="320039">
              <a:spcBef>
                <a:spcPts val="4200"/>
              </a:spcBef>
              <a:defRPr sz="3870"/>
            </a:pPr>
            <a:r>
              <a:t>[6]</a:t>
            </a:r>
            <a:r>
              <a:rPr>
                <a:latin typeface="Arial"/>
                <a:ea typeface="Arial"/>
                <a:cs typeface="Arial"/>
                <a:sym typeface="Arial"/>
              </a:rPr>
              <a:t> </a:t>
            </a:r>
            <a:r>
              <a:t>D. Thomas and H. Kantarjian, “Acute myelogenous leukemia,” </a:t>
            </a:r>
            <a:r>
              <a:rPr i="1">
                <a:latin typeface="Graphik"/>
                <a:ea typeface="Graphik"/>
                <a:cs typeface="Graphik"/>
                <a:sym typeface="Graphik"/>
              </a:rPr>
              <a:t>New England Journal of Medicine</a:t>
            </a:r>
            <a:r>
              <a:t>, vol. 353, no. 10, pp. 1059–1072, 2005. </a:t>
            </a:r>
          </a:p>
          <a:p>
            <a:pPr marL="411479" indent="-411479" algn="just" defTabSz="320039">
              <a:spcBef>
                <a:spcPts val="4200"/>
              </a:spcBef>
              <a:defRPr sz="3870"/>
            </a:pPr>
            <a:r>
              <a:t>[7]</a:t>
            </a:r>
            <a:r>
              <a:rPr>
                <a:latin typeface="Arial"/>
                <a:ea typeface="Arial"/>
                <a:cs typeface="Arial"/>
                <a:sym typeface="Arial"/>
              </a:rPr>
              <a:t> </a:t>
            </a:r>
            <a:r>
              <a:t>F. Scotti, “ALL-IDB: The Acute Lymphoblastic Leukemia Image Database for image processing,” Proc. IEEE Int. Conf. Image Processing, pp. 2045–2048, 2005. </a:t>
            </a:r>
          </a:p>
          <a:p>
            <a:pPr marL="411479" indent="-411479" algn="just" defTabSz="320039">
              <a:spcBef>
                <a:spcPts val="4200"/>
              </a:spcBef>
              <a:defRPr sz="3870"/>
            </a:pPr>
            <a:r>
              <a:t>[8]</a:t>
            </a:r>
            <a:r>
              <a:rPr>
                <a:latin typeface="Arial"/>
                <a:ea typeface="Arial"/>
                <a:cs typeface="Arial"/>
                <a:sym typeface="Arial"/>
              </a:rPr>
              <a:t> </a:t>
            </a:r>
            <a:r>
              <a:t>S. Shafin et al., “Classification of normal and leukemic cells from microscopic blood images,” </a:t>
            </a:r>
            <a:r>
              <a:rPr i="1">
                <a:latin typeface="Graphik"/>
                <a:ea typeface="Graphik"/>
                <a:cs typeface="Graphik"/>
                <a:sym typeface="Graphik"/>
              </a:rPr>
              <a:t>Proc. ISBI</a:t>
            </a:r>
            <a:r>
              <a:t>, pp. 1–5, 2019. </a:t>
            </a:r>
          </a:p>
          <a:p>
            <a:pPr marL="411479" indent="-411479" algn="just" defTabSz="320039">
              <a:spcBef>
                <a:spcPts val="4200"/>
              </a:spcBef>
              <a:defRPr sz="3870"/>
            </a:pPr>
            <a:r>
              <a:t>[9]</a:t>
            </a:r>
            <a:r>
              <a:rPr>
                <a:latin typeface="Arial"/>
                <a:ea typeface="Arial"/>
                <a:cs typeface="Arial"/>
                <a:sym typeface="Arial"/>
              </a:rPr>
              <a:t> </a:t>
            </a:r>
            <a:r>
              <a:t>P. T. Mooney, “Blood cell detection and classification dataset,” Kaggle, 2018. </a:t>
            </a:r>
          </a:p>
          <a:p>
            <a:pPr marL="411479" indent="-411479" algn="just" defTabSz="320039">
              <a:spcBef>
                <a:spcPts val="4200"/>
              </a:spcBef>
              <a:defRPr sz="3870"/>
            </a:pPr>
            <a:r>
              <a:t>[10]</a:t>
            </a:r>
            <a:r>
              <a:rPr>
                <a:latin typeface="Arial"/>
                <a:ea typeface="Arial"/>
                <a:cs typeface="Arial"/>
                <a:sym typeface="Arial"/>
              </a:rPr>
              <a:t> </a:t>
            </a:r>
            <a:r>
              <a:t>D. Arber et al., “The 2016 WHO classification of acute myeloid leukemia,” </a:t>
            </a:r>
            <a:r>
              <a:rPr i="1">
                <a:latin typeface="Graphik"/>
                <a:ea typeface="Graphik"/>
                <a:cs typeface="Graphik"/>
                <a:sym typeface="Graphik"/>
              </a:rPr>
              <a:t>Blood</a:t>
            </a:r>
            <a:r>
              <a:t>, vol. 127, no. 20, pp. 2391–2405, 2016.</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6_DynamicWavesLight">
  <a:themeElements>
    <a:clrScheme name="36_DynamicWaves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